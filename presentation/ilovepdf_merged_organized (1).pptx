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20104100" cy="11315700"/>
  <p:notesSz cx="20104100" cy="113157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775154" y="3864523"/>
            <a:ext cx="6422390" cy="1753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350" b="0" i="0">
                <a:solidFill>
                  <a:srgbClr val="282828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85544" y="5849604"/>
            <a:ext cx="16533010" cy="1749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383838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350" b="0" i="0">
                <a:solidFill>
                  <a:srgbClr val="282828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383838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350" b="0" i="0">
                <a:solidFill>
                  <a:srgbClr val="282828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2611"/>
            <a:ext cx="8745284" cy="74683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2611"/>
            <a:ext cx="8745284" cy="74683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350" b="0" i="0">
                <a:solidFill>
                  <a:srgbClr val="282828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1081" y="813271"/>
            <a:ext cx="9171940" cy="11645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350" b="0" i="0">
                <a:solidFill>
                  <a:srgbClr val="282828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8544" y="4584834"/>
            <a:ext cx="8150225" cy="4958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383838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23601"/>
            <a:ext cx="6433312" cy="5657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23601"/>
            <a:ext cx="4623943" cy="5657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23601"/>
            <a:ext cx="4623943" cy="5657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099" cy="113096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23239" y="3612808"/>
            <a:ext cx="8795546" cy="6283145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824581" y="2305128"/>
            <a:ext cx="18517870" cy="0"/>
          </a:xfrm>
          <a:custGeom>
            <a:avLst/>
            <a:gdLst/>
            <a:ahLst/>
            <a:cxnLst/>
            <a:rect l="l" t="t" r="r" b="b"/>
            <a:pathLst>
              <a:path w="18517870" h="0">
                <a:moveTo>
                  <a:pt x="0" y="0"/>
                </a:moveTo>
                <a:lnTo>
                  <a:pt x="18517762" y="0"/>
                </a:lnTo>
              </a:path>
            </a:pathLst>
          </a:custGeom>
          <a:ln w="235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02091" y="-15708"/>
            <a:ext cx="12997180" cy="110489"/>
            <a:chOff x="102091" y="-15708"/>
            <a:chExt cx="12997180" cy="110489"/>
          </a:xfrm>
        </p:grpSpPr>
        <p:sp>
          <p:nvSpPr>
            <p:cNvPr id="5" name="object 5" descr=""/>
            <p:cNvSpPr/>
            <p:nvPr/>
          </p:nvSpPr>
          <p:spPr>
            <a:xfrm>
              <a:off x="102091" y="74611"/>
              <a:ext cx="12997180" cy="0"/>
            </a:xfrm>
            <a:custGeom>
              <a:avLst/>
              <a:gdLst/>
              <a:ahLst/>
              <a:cxnLst/>
              <a:rect l="l" t="t" r="r" b="b"/>
              <a:pathLst>
                <a:path w="12997180" h="0">
                  <a:moveTo>
                    <a:pt x="0" y="0"/>
                  </a:moveTo>
                  <a:lnTo>
                    <a:pt x="12996987" y="0"/>
                  </a:lnTo>
                </a:path>
              </a:pathLst>
            </a:custGeom>
            <a:ln w="39269">
              <a:solidFill>
                <a:srgbClr val="77574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25650" y="3926"/>
              <a:ext cx="12847955" cy="0"/>
            </a:xfrm>
            <a:custGeom>
              <a:avLst/>
              <a:gdLst/>
              <a:ahLst/>
              <a:cxnLst/>
              <a:rect l="l" t="t" r="r" b="b"/>
              <a:pathLst>
                <a:path w="12847955" h="0">
                  <a:moveTo>
                    <a:pt x="0" y="0"/>
                  </a:moveTo>
                  <a:lnTo>
                    <a:pt x="12847777" y="0"/>
                  </a:lnTo>
                </a:path>
              </a:pathLst>
            </a:custGeom>
            <a:ln w="39269">
              <a:solidFill>
                <a:srgbClr val="77574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31115">
              <a:lnSpc>
                <a:spcPct val="100000"/>
              </a:lnSpc>
              <a:spcBef>
                <a:spcPts val="120"/>
              </a:spcBef>
            </a:pPr>
            <a:r>
              <a:rPr dirty="0" sz="7450">
                <a:solidFill>
                  <a:srgbClr val="2A2A2A"/>
                </a:solidFill>
                <a:latin typeface="Times New Roman"/>
                <a:cs typeface="Times New Roman"/>
              </a:rPr>
              <a:t>The</a:t>
            </a:r>
            <a:r>
              <a:rPr dirty="0" sz="7450" spc="-425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dirty="0" sz="7450" spc="-100">
                <a:solidFill>
                  <a:srgbClr val="2A2A2A"/>
                </a:solidFill>
                <a:latin typeface="Times New Roman"/>
                <a:cs typeface="Times New Roman"/>
              </a:rPr>
              <a:t>Concept</a:t>
            </a:r>
            <a:endParaRPr sz="745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64398" y="4482366"/>
            <a:ext cx="8625205" cy="41059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125"/>
              </a:spcBef>
            </a:pPr>
            <a:r>
              <a:rPr dirty="0" sz="2550" spc="45">
                <a:solidFill>
                  <a:srgbClr val="1C1C1C"/>
                </a:solidFill>
                <a:latin typeface="Times New Roman"/>
                <a:cs typeface="Times New Roman"/>
              </a:rPr>
              <a:t>Premium</a:t>
            </a:r>
            <a:r>
              <a:rPr dirty="0" sz="2550" spc="95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A1A1A"/>
                </a:solidFill>
                <a:latin typeface="Times New Roman"/>
                <a:cs typeface="Times New Roman"/>
              </a:rPr>
              <a:t>Digital</a:t>
            </a:r>
            <a:r>
              <a:rPr dirty="0" sz="2550" spc="4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550" spc="65">
                <a:solidFill>
                  <a:srgbClr val="161616"/>
                </a:solidFill>
                <a:latin typeface="Times New Roman"/>
                <a:cs typeface="Times New Roman"/>
              </a:rPr>
              <a:t>Storefront</a:t>
            </a:r>
            <a:endParaRPr sz="2550">
              <a:latin typeface="Times New Roman"/>
              <a:cs typeface="Times New Roman"/>
            </a:endParaRPr>
          </a:p>
          <a:p>
            <a:pPr marL="16510" marR="5080" indent="-635">
              <a:lnSpc>
                <a:spcPct val="116900"/>
              </a:lnSpc>
              <a:spcBef>
                <a:spcPts val="2325"/>
              </a:spcBef>
            </a:pPr>
            <a:r>
              <a:rPr dirty="0" sz="3350" spc="-110">
                <a:solidFill>
                  <a:srgbClr val="3D3D3D"/>
                </a:solidFill>
                <a:latin typeface="Calibri"/>
                <a:cs typeface="Calibri"/>
              </a:rPr>
              <a:t>Mi7fada</a:t>
            </a:r>
            <a:r>
              <a:rPr dirty="0" sz="3350" spc="-85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3350" spc="-40">
                <a:solidFill>
                  <a:srgbClr val="424242"/>
                </a:solidFill>
                <a:latin typeface="Calibri"/>
                <a:cs typeface="Calibri"/>
              </a:rPr>
              <a:t>is</a:t>
            </a:r>
            <a:r>
              <a:rPr dirty="0" sz="3350" spc="-195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3350">
                <a:solidFill>
                  <a:srgbClr val="3B3B3B"/>
                </a:solidFill>
                <a:latin typeface="Calibri"/>
                <a:cs typeface="Calibri"/>
              </a:rPr>
              <a:t>a</a:t>
            </a:r>
            <a:r>
              <a:rPr dirty="0" sz="3350" spc="-26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3350" spc="-110">
                <a:solidFill>
                  <a:srgbClr val="313131"/>
                </a:solidFill>
                <a:latin typeface="Calibri"/>
                <a:cs typeface="Calibri"/>
              </a:rPr>
              <a:t>conceptual</a:t>
            </a:r>
            <a:r>
              <a:rPr dirty="0" sz="3350" spc="-75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3350" spc="-105">
                <a:solidFill>
                  <a:srgbClr val="3D3D3D"/>
                </a:solidFill>
                <a:latin typeface="Calibri"/>
                <a:cs typeface="Calibri"/>
              </a:rPr>
              <a:t>e-</a:t>
            </a:r>
            <a:r>
              <a:rPr dirty="0" sz="3350" spc="-95">
                <a:solidFill>
                  <a:srgbClr val="3D3D3D"/>
                </a:solidFill>
                <a:latin typeface="Calibri"/>
                <a:cs typeface="Calibri"/>
              </a:rPr>
              <a:t>commerce</a:t>
            </a:r>
            <a:r>
              <a:rPr dirty="0" sz="3350" spc="4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3350" spc="-120">
                <a:solidFill>
                  <a:srgbClr val="3B3B3B"/>
                </a:solidFill>
                <a:latin typeface="Calibri"/>
                <a:cs typeface="Calibri"/>
              </a:rPr>
              <a:t>web</a:t>
            </a:r>
            <a:r>
              <a:rPr dirty="0" sz="3350" spc="-17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3350" spc="-100">
                <a:solidFill>
                  <a:srgbClr val="333333"/>
                </a:solidFill>
                <a:latin typeface="Calibri"/>
                <a:cs typeface="Calibri"/>
              </a:rPr>
              <a:t>application </a:t>
            </a:r>
            <a:r>
              <a:rPr dirty="0" sz="3350" spc="-125">
                <a:solidFill>
                  <a:srgbClr val="363636"/>
                </a:solidFill>
                <a:latin typeface="Calibri"/>
                <a:cs typeface="Calibri"/>
              </a:rPr>
              <a:t>designed</a:t>
            </a:r>
            <a:r>
              <a:rPr dirty="0" sz="3350" spc="-65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3350" spc="-75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dirty="0" sz="3350" spc="-18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3350" spc="-85">
                <a:solidFill>
                  <a:srgbClr val="414141"/>
                </a:solidFill>
                <a:latin typeface="Calibri"/>
                <a:cs typeface="Calibri"/>
              </a:rPr>
              <a:t>sell</a:t>
            </a:r>
            <a:r>
              <a:rPr dirty="0" sz="3350" spc="-105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dirty="0" sz="3350" spc="-130">
                <a:solidFill>
                  <a:srgbClr val="3B3B3B"/>
                </a:solidFill>
                <a:latin typeface="Calibri"/>
                <a:cs typeface="Calibri"/>
              </a:rPr>
              <a:t>premium</a:t>
            </a:r>
            <a:r>
              <a:rPr dirty="0" sz="3350" spc="-55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3350" spc="-65">
                <a:solidFill>
                  <a:srgbClr val="3D3D3D"/>
                </a:solidFill>
                <a:latin typeface="Calibri"/>
                <a:cs typeface="Calibri"/>
              </a:rPr>
              <a:t>leather</a:t>
            </a:r>
            <a:r>
              <a:rPr dirty="0" sz="3350" spc="-45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3350" spc="-10">
                <a:solidFill>
                  <a:srgbClr val="3B3B3B"/>
                </a:solidFill>
                <a:latin typeface="Calibri"/>
                <a:cs typeface="Calibri"/>
              </a:rPr>
              <a:t>bags.</a:t>
            </a:r>
            <a:endParaRPr sz="3350">
              <a:latin typeface="Calibri"/>
              <a:cs typeface="Calibri"/>
            </a:endParaRPr>
          </a:p>
          <a:p>
            <a:pPr marL="12700" marR="505459" indent="3810">
              <a:lnSpc>
                <a:spcPct val="118500"/>
              </a:lnSpc>
              <a:spcBef>
                <a:spcPts val="3030"/>
              </a:spcBef>
            </a:pPr>
            <a:r>
              <a:rPr dirty="0" sz="3350" spc="-70">
                <a:solidFill>
                  <a:srgbClr val="3F3F3F"/>
                </a:solidFill>
                <a:latin typeface="Calibri"/>
                <a:cs typeface="Calibri"/>
              </a:rPr>
              <a:t>Beyond</a:t>
            </a:r>
            <a:r>
              <a:rPr dirty="0" sz="3350" spc="-12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3350" spc="-100">
                <a:solidFill>
                  <a:srgbClr val="3A3A3A"/>
                </a:solidFill>
                <a:latin typeface="Calibri"/>
                <a:cs typeface="Calibri"/>
              </a:rPr>
              <a:t>just</a:t>
            </a:r>
            <a:r>
              <a:rPr dirty="0" sz="3350" spc="-85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3350" spc="-110">
                <a:solidFill>
                  <a:srgbClr val="2D2D2D"/>
                </a:solidFill>
                <a:latin typeface="Calibri"/>
                <a:cs typeface="Calibri"/>
              </a:rPr>
              <a:t>transactions,</a:t>
            </a:r>
            <a:r>
              <a:rPr dirty="0" sz="3350" spc="-6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dirty="0" sz="3350">
                <a:solidFill>
                  <a:srgbClr val="3D3D3D"/>
                </a:solidFill>
                <a:latin typeface="Calibri"/>
                <a:cs typeface="Calibri"/>
              </a:rPr>
              <a:t>it</a:t>
            </a:r>
            <a:r>
              <a:rPr dirty="0" sz="3350" spc="-19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3350" spc="-45">
                <a:solidFill>
                  <a:srgbClr val="3A3A3A"/>
                </a:solidFill>
                <a:latin typeface="Calibri"/>
                <a:cs typeface="Calibri"/>
              </a:rPr>
              <a:t>serves</a:t>
            </a:r>
            <a:r>
              <a:rPr dirty="0" sz="3350" spc="-95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3350" spc="-95">
                <a:solidFill>
                  <a:srgbClr val="3B3B3B"/>
                </a:solidFill>
                <a:latin typeface="Calibri"/>
                <a:cs typeface="Calibri"/>
              </a:rPr>
              <a:t>as</a:t>
            </a:r>
            <a:r>
              <a:rPr dirty="0" sz="3350" spc="-16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3350">
                <a:solidFill>
                  <a:srgbClr val="424242"/>
                </a:solidFill>
                <a:latin typeface="Calibri"/>
                <a:cs typeface="Calibri"/>
              </a:rPr>
              <a:t>a</a:t>
            </a:r>
            <a:r>
              <a:rPr dirty="0" sz="3350" spc="-245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3350" spc="-80">
                <a:solidFill>
                  <a:srgbClr val="3D3D3D"/>
                </a:solidFill>
                <a:latin typeface="Calibri"/>
                <a:cs typeface="Calibri"/>
              </a:rPr>
              <a:t>soft-</a:t>
            </a:r>
            <a:r>
              <a:rPr dirty="0" sz="3350" spc="-10">
                <a:solidFill>
                  <a:srgbClr val="3D3D3D"/>
                </a:solidFill>
                <a:latin typeface="Calibri"/>
                <a:cs typeface="Calibri"/>
              </a:rPr>
              <a:t>skills </a:t>
            </a:r>
            <a:r>
              <a:rPr dirty="0" sz="3350" spc="-60">
                <a:solidFill>
                  <a:srgbClr val="3D3D3D"/>
                </a:solidFill>
                <a:latin typeface="Calibri"/>
                <a:cs typeface="Calibri"/>
              </a:rPr>
              <a:t>project</a:t>
            </a:r>
            <a:r>
              <a:rPr dirty="0" sz="3350" spc="-9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3350" spc="-120">
                <a:solidFill>
                  <a:srgbClr val="383838"/>
                </a:solidFill>
                <a:latin typeface="Calibri"/>
                <a:cs typeface="Calibri"/>
              </a:rPr>
              <a:t>demonstrating</a:t>
            </a:r>
            <a:r>
              <a:rPr dirty="0" sz="3350" spc="8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3350" spc="-190">
                <a:solidFill>
                  <a:srgbClr val="706B80"/>
                </a:solidFill>
                <a:latin typeface="Calibri"/>
                <a:cs typeface="Calibri"/>
              </a:rPr>
              <a:t>how</a:t>
            </a:r>
            <a:r>
              <a:rPr dirty="0" sz="3350" spc="-145">
                <a:solidFill>
                  <a:srgbClr val="706B80"/>
                </a:solidFill>
                <a:latin typeface="Calibri"/>
                <a:cs typeface="Calibri"/>
              </a:rPr>
              <a:t> </a:t>
            </a:r>
            <a:r>
              <a:rPr dirty="0" sz="3350" spc="-114">
                <a:solidFill>
                  <a:srgbClr val="3F3F3F"/>
                </a:solidFill>
                <a:latin typeface="Calibri"/>
                <a:cs typeface="Calibri"/>
              </a:rPr>
              <a:t>modern</a:t>
            </a:r>
            <a:r>
              <a:rPr dirty="0" sz="3350" spc="-16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3350" spc="-125">
                <a:solidFill>
                  <a:srgbClr val="424242"/>
                </a:solidFill>
                <a:latin typeface="Calibri"/>
                <a:cs typeface="Calibri"/>
              </a:rPr>
              <a:t>web</a:t>
            </a:r>
            <a:r>
              <a:rPr dirty="0" sz="3350" spc="-13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3350" spc="-120">
                <a:solidFill>
                  <a:srgbClr val="383838"/>
                </a:solidFill>
                <a:latin typeface="Calibri"/>
                <a:cs typeface="Calibri"/>
              </a:rPr>
              <a:t>tools</a:t>
            </a:r>
            <a:r>
              <a:rPr dirty="0" sz="3350" spc="-12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3350" spc="-25">
                <a:solidFill>
                  <a:srgbClr val="3F3F3F"/>
                </a:solidFill>
                <a:latin typeface="Calibri"/>
                <a:cs typeface="Calibri"/>
              </a:rPr>
              <a:t>can </a:t>
            </a:r>
            <a:r>
              <a:rPr dirty="0" sz="3350" spc="-45">
                <a:solidFill>
                  <a:srgbClr val="383838"/>
                </a:solidFill>
                <a:latin typeface="Calibri"/>
                <a:cs typeface="Calibri"/>
              </a:rPr>
              <a:t>create</a:t>
            </a:r>
            <a:r>
              <a:rPr dirty="0" sz="3350" spc="-114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3350" spc="-85">
                <a:solidFill>
                  <a:srgbClr val="3D3D3D"/>
                </a:solidFill>
                <a:latin typeface="Calibri"/>
                <a:cs typeface="Calibri"/>
              </a:rPr>
              <a:t>immersive</a:t>
            </a:r>
            <a:r>
              <a:rPr dirty="0" sz="3350" spc="-1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3350" spc="-110">
                <a:solidFill>
                  <a:srgbClr val="363636"/>
                </a:solidFill>
                <a:latin typeface="Calibri"/>
                <a:cs typeface="Calibri"/>
              </a:rPr>
              <a:t>brand</a:t>
            </a:r>
            <a:r>
              <a:rPr dirty="0" sz="3350" spc="-13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3350" spc="-30">
                <a:solidFill>
                  <a:srgbClr val="363636"/>
                </a:solidFill>
                <a:latin typeface="Calibri"/>
                <a:cs typeface="Calibri"/>
              </a:rPr>
              <a:t>experiences.</a:t>
            </a:r>
            <a:endParaRPr sz="3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18" y="0"/>
            <a:ext cx="20056976" cy="14137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816728" y="2305128"/>
            <a:ext cx="18533745" cy="0"/>
          </a:xfrm>
          <a:custGeom>
            <a:avLst/>
            <a:gdLst/>
            <a:ahLst/>
            <a:cxnLst/>
            <a:rect l="l" t="t" r="r" b="b"/>
            <a:pathLst>
              <a:path w="18533745" h="0">
                <a:moveTo>
                  <a:pt x="0" y="0"/>
                </a:moveTo>
                <a:lnTo>
                  <a:pt x="18533468" y="0"/>
                </a:lnTo>
              </a:path>
            </a:pathLst>
          </a:custGeom>
          <a:ln w="235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58789" y="845996"/>
            <a:ext cx="5369560" cy="11252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7200" spc="-35">
                <a:solidFill>
                  <a:srgbClr val="282828"/>
                </a:solidFill>
                <a:latin typeface="Cambria"/>
                <a:cs typeface="Cambria"/>
              </a:rPr>
              <a:t>The</a:t>
            </a:r>
            <a:r>
              <a:rPr dirty="0" sz="7200" spc="-345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dirty="0" sz="7200" spc="-95">
                <a:solidFill>
                  <a:srgbClr val="2A2A2A"/>
                </a:solidFill>
                <a:latin typeface="Cambria"/>
                <a:cs typeface="Cambria"/>
              </a:rPr>
              <a:t>Challenge</a:t>
            </a:r>
            <a:endParaRPr sz="72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495300" marR="5080" indent="-483234">
              <a:lnSpc>
                <a:spcPts val="6930"/>
              </a:lnSpc>
            </a:pPr>
            <a:r>
              <a:rPr dirty="0" sz="5550" spc="-225" i="1">
                <a:solidFill>
                  <a:srgbClr val="2A2A2A"/>
                </a:solidFill>
                <a:latin typeface="Cambria"/>
                <a:cs typeface="Cambria"/>
              </a:rPr>
              <a:t>“Hon</a:t>
            </a:r>
            <a:r>
              <a:rPr dirty="0" sz="5550" spc="-35" i="1">
                <a:solidFill>
                  <a:srgbClr val="2A2A2A"/>
                </a:solidFill>
                <a:latin typeface="Cambria"/>
                <a:cs typeface="Cambria"/>
              </a:rPr>
              <a:t> </a:t>
            </a:r>
            <a:r>
              <a:rPr dirty="0" sz="5550" spc="-290" i="1">
                <a:solidFill>
                  <a:srgbClr val="313131"/>
                </a:solidFill>
                <a:latin typeface="Cambria"/>
                <a:cs typeface="Cambria"/>
              </a:rPr>
              <a:t>do</a:t>
            </a:r>
            <a:r>
              <a:rPr dirty="0" sz="5550" spc="-120" i="1">
                <a:solidFill>
                  <a:srgbClr val="313131"/>
                </a:solidFill>
                <a:latin typeface="Cambria"/>
                <a:cs typeface="Cambria"/>
              </a:rPr>
              <a:t> </a:t>
            </a:r>
            <a:r>
              <a:rPr dirty="0" sz="5550" spc="80" i="1">
                <a:solidFill>
                  <a:srgbClr val="2D2D2D"/>
                </a:solidFill>
                <a:latin typeface="Cambria"/>
                <a:cs typeface="Cambria"/>
              </a:rPr>
              <a:t>ue</a:t>
            </a:r>
            <a:r>
              <a:rPr dirty="0" sz="5550" spc="-229" i="1">
                <a:solidFill>
                  <a:srgbClr val="2D2D2D"/>
                </a:solidFill>
                <a:latin typeface="Cambria"/>
                <a:cs typeface="Cambria"/>
              </a:rPr>
              <a:t> </a:t>
            </a:r>
            <a:r>
              <a:rPr dirty="0" sz="5550" spc="-330" i="1">
                <a:solidFill>
                  <a:srgbClr val="2F2F2F"/>
                </a:solidFill>
                <a:latin typeface="Cambria"/>
                <a:cs typeface="Cambria"/>
              </a:rPr>
              <a:t>bridge</a:t>
            </a:r>
            <a:r>
              <a:rPr dirty="0" sz="5550" spc="65" i="1">
                <a:solidFill>
                  <a:srgbClr val="2F2F2F"/>
                </a:solidFill>
                <a:latin typeface="Cambria"/>
                <a:cs typeface="Cambria"/>
              </a:rPr>
              <a:t> </a:t>
            </a:r>
            <a:r>
              <a:rPr dirty="0" sz="5550" spc="-400" i="1">
                <a:solidFill>
                  <a:srgbClr val="313131"/>
                </a:solidFill>
                <a:latin typeface="Cambria"/>
                <a:cs typeface="Cambria"/>
              </a:rPr>
              <a:t>the</a:t>
            </a:r>
            <a:r>
              <a:rPr dirty="0" sz="5550" spc="15" i="1">
                <a:solidFill>
                  <a:srgbClr val="313131"/>
                </a:solidFill>
                <a:latin typeface="Cambria"/>
                <a:cs typeface="Cambria"/>
              </a:rPr>
              <a:t> </a:t>
            </a:r>
            <a:r>
              <a:rPr dirty="0" sz="5550" spc="-415" i="1">
                <a:solidFill>
                  <a:srgbClr val="2B2B2B"/>
                </a:solidFill>
                <a:latin typeface="Cambria"/>
                <a:cs typeface="Cambria"/>
              </a:rPr>
              <a:t>gap</a:t>
            </a:r>
            <a:r>
              <a:rPr dirty="0" sz="5550" spc="-110" i="1">
                <a:solidFill>
                  <a:srgbClr val="2B2B2B"/>
                </a:solidFill>
                <a:latin typeface="Cambria"/>
                <a:cs typeface="Cambria"/>
              </a:rPr>
              <a:t> </a:t>
            </a:r>
            <a:r>
              <a:rPr dirty="0" sz="5550" spc="-450" i="1">
                <a:solidFill>
                  <a:srgbClr val="2D2D2D"/>
                </a:solidFill>
                <a:latin typeface="Cambria"/>
                <a:cs typeface="Cambria"/>
              </a:rPr>
              <a:t>between</a:t>
            </a:r>
            <a:r>
              <a:rPr dirty="0" sz="5550" spc="265" i="1">
                <a:solidFill>
                  <a:srgbClr val="2D2D2D"/>
                </a:solidFill>
                <a:latin typeface="Cambria"/>
                <a:cs typeface="Cambria"/>
              </a:rPr>
              <a:t> </a:t>
            </a:r>
            <a:r>
              <a:rPr dirty="0" sz="5550" spc="-305" i="1">
                <a:solidFill>
                  <a:srgbClr val="2A2A2A"/>
                </a:solidFill>
                <a:latin typeface="Cambria"/>
                <a:cs typeface="Cambria"/>
              </a:rPr>
              <a:t>static</a:t>
            </a:r>
            <a:r>
              <a:rPr dirty="0" sz="5550" spc="10" i="1">
                <a:solidFill>
                  <a:srgbClr val="2A2A2A"/>
                </a:solidFill>
                <a:latin typeface="Cambria"/>
                <a:cs typeface="Cambria"/>
              </a:rPr>
              <a:t> </a:t>
            </a:r>
            <a:r>
              <a:rPr dirty="0" sz="5550" spc="-265" i="1">
                <a:solidFill>
                  <a:srgbClr val="2D2D2D"/>
                </a:solidFill>
                <a:latin typeface="Cambria"/>
                <a:cs typeface="Cambria"/>
              </a:rPr>
              <a:t>product</a:t>
            </a:r>
            <a:r>
              <a:rPr dirty="0" sz="5550" spc="60" i="1">
                <a:solidFill>
                  <a:srgbClr val="2D2D2D"/>
                </a:solidFill>
                <a:latin typeface="Cambria"/>
                <a:cs typeface="Cambria"/>
              </a:rPr>
              <a:t> </a:t>
            </a:r>
            <a:r>
              <a:rPr dirty="0" sz="5550" spc="-395" i="1">
                <a:solidFill>
                  <a:srgbClr val="2A2A2A"/>
                </a:solidFill>
                <a:latin typeface="Cambria"/>
                <a:cs typeface="Cambria"/>
              </a:rPr>
              <a:t>catalogs</a:t>
            </a:r>
            <a:r>
              <a:rPr dirty="0" sz="5550" spc="295" i="1">
                <a:solidFill>
                  <a:srgbClr val="2A2A2A"/>
                </a:solidFill>
                <a:latin typeface="Cambria"/>
                <a:cs typeface="Cambria"/>
              </a:rPr>
              <a:t> </a:t>
            </a:r>
            <a:r>
              <a:rPr dirty="0" sz="5550" spc="-25" i="1">
                <a:solidFill>
                  <a:srgbClr val="313131"/>
                </a:solidFill>
                <a:latin typeface="Cambria"/>
                <a:cs typeface="Cambria"/>
              </a:rPr>
              <a:t>and </a:t>
            </a:r>
            <a:r>
              <a:rPr dirty="0" sz="5550" spc="-400" i="1">
                <a:solidFill>
                  <a:srgbClr val="343434"/>
                </a:solidFill>
                <a:latin typeface="Cambria"/>
                <a:cs typeface="Cambria"/>
              </a:rPr>
              <a:t>the</a:t>
            </a:r>
            <a:r>
              <a:rPr dirty="0" sz="5550" spc="-25" i="1">
                <a:solidFill>
                  <a:srgbClr val="343434"/>
                </a:solidFill>
                <a:latin typeface="Cambria"/>
                <a:cs typeface="Cambria"/>
              </a:rPr>
              <a:t> </a:t>
            </a:r>
            <a:r>
              <a:rPr dirty="0" sz="5550" spc="-275" i="1">
                <a:solidFill>
                  <a:srgbClr val="2A2A2A"/>
                </a:solidFill>
                <a:latin typeface="Cambria"/>
                <a:cs typeface="Cambria"/>
              </a:rPr>
              <a:t>personalized</a:t>
            </a:r>
            <a:r>
              <a:rPr dirty="0" sz="5550" spc="320" i="1">
                <a:solidFill>
                  <a:srgbClr val="2A2A2A"/>
                </a:solidFill>
                <a:latin typeface="Cambria"/>
                <a:cs typeface="Cambria"/>
              </a:rPr>
              <a:t> </a:t>
            </a:r>
            <a:r>
              <a:rPr dirty="0" sz="5550" spc="-315" i="1">
                <a:solidFill>
                  <a:srgbClr val="2F2F2F"/>
                </a:solidFill>
                <a:latin typeface="Cambria"/>
                <a:cs typeface="Cambria"/>
              </a:rPr>
              <a:t>assistance</a:t>
            </a:r>
            <a:r>
              <a:rPr dirty="0" sz="5550" spc="395" i="1">
                <a:solidFill>
                  <a:srgbClr val="2F2F2F"/>
                </a:solidFill>
                <a:latin typeface="Cambria"/>
                <a:cs typeface="Cambria"/>
              </a:rPr>
              <a:t> </a:t>
            </a:r>
            <a:r>
              <a:rPr dirty="0" sz="5550" spc="185" i="1">
                <a:solidFill>
                  <a:srgbClr val="313131"/>
                </a:solidFill>
                <a:latin typeface="Cambria"/>
                <a:cs typeface="Cambria"/>
              </a:rPr>
              <a:t>ofa</a:t>
            </a:r>
            <a:r>
              <a:rPr dirty="0" sz="5550" spc="-135" i="1">
                <a:solidFill>
                  <a:srgbClr val="313131"/>
                </a:solidFill>
                <a:latin typeface="Cambria"/>
                <a:cs typeface="Cambria"/>
              </a:rPr>
              <a:t> </a:t>
            </a:r>
            <a:r>
              <a:rPr dirty="0" sz="5550" spc="-110" i="1">
                <a:solidFill>
                  <a:srgbClr val="262626"/>
                </a:solidFill>
                <a:latin typeface="Cambria"/>
                <a:cs typeface="Cambria"/>
              </a:rPr>
              <a:t>physicalluxury</a:t>
            </a:r>
            <a:r>
              <a:rPr dirty="0" sz="5550" spc="-200" i="1">
                <a:solidFill>
                  <a:srgbClr val="262626"/>
                </a:solidFill>
                <a:latin typeface="Cambria"/>
                <a:cs typeface="Cambria"/>
              </a:rPr>
              <a:t> </a:t>
            </a:r>
            <a:r>
              <a:rPr dirty="0" sz="5550" spc="-340" i="1">
                <a:solidFill>
                  <a:srgbClr val="262626"/>
                </a:solidFill>
                <a:latin typeface="Cambria"/>
                <a:cs typeface="Cambria"/>
              </a:rPr>
              <a:t>boutique?“</a:t>
            </a:r>
            <a:endParaRPr sz="55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6208" y="1247831"/>
            <a:ext cx="19157889" cy="79996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085" y="0"/>
            <a:ext cx="19987241" cy="12440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780217" y="4264393"/>
            <a:ext cx="7936230" cy="436753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58115">
              <a:lnSpc>
                <a:spcPct val="100000"/>
              </a:lnSpc>
              <a:spcBef>
                <a:spcPts val="114"/>
              </a:spcBef>
            </a:pPr>
            <a:r>
              <a:rPr dirty="0" sz="2550">
                <a:solidFill>
                  <a:srgbClr val="232323"/>
                </a:solidFill>
                <a:latin typeface="Cambria"/>
                <a:cs typeface="Cambria"/>
              </a:rPr>
              <a:t>Go</a:t>
            </a:r>
            <a:r>
              <a:rPr dirty="0" baseline="1089" sz="3825">
                <a:solidFill>
                  <a:srgbClr val="232323"/>
                </a:solidFill>
                <a:latin typeface="Cambria"/>
                <a:cs typeface="Cambria"/>
              </a:rPr>
              <a:t>nv</a:t>
            </a:r>
            <a:r>
              <a:rPr dirty="0" sz="2550">
                <a:solidFill>
                  <a:srgbClr val="232323"/>
                </a:solidFill>
                <a:latin typeface="Cambria"/>
                <a:cs typeface="Cambria"/>
              </a:rPr>
              <a:t>ers</a:t>
            </a:r>
            <a:r>
              <a:rPr dirty="0" baseline="1089" sz="3825">
                <a:solidFill>
                  <a:srgbClr val="232323"/>
                </a:solidFill>
                <a:latin typeface="Cambria"/>
                <a:cs typeface="Cambria"/>
              </a:rPr>
              <a:t>ati</a:t>
            </a:r>
            <a:r>
              <a:rPr dirty="0" sz="2550">
                <a:solidFill>
                  <a:srgbClr val="232323"/>
                </a:solidFill>
                <a:latin typeface="Cambria"/>
                <a:cs typeface="Cambria"/>
              </a:rPr>
              <a:t>o</a:t>
            </a:r>
            <a:r>
              <a:rPr dirty="0" baseline="1089" sz="3825">
                <a:solidFill>
                  <a:srgbClr val="232323"/>
                </a:solidFill>
                <a:latin typeface="Cambria"/>
                <a:cs typeface="Cambria"/>
              </a:rPr>
              <a:t>nalAI</a:t>
            </a:r>
            <a:r>
              <a:rPr dirty="0" baseline="1089" sz="3825" spc="-112">
                <a:solidFill>
                  <a:srgbClr val="232323"/>
                </a:solidFill>
                <a:latin typeface="Cambria"/>
                <a:cs typeface="Cambria"/>
              </a:rPr>
              <a:t> </a:t>
            </a:r>
            <a:r>
              <a:rPr dirty="0" baseline="1089" sz="3825" spc="-15">
                <a:solidFill>
                  <a:srgbClr val="262626"/>
                </a:solidFill>
                <a:latin typeface="Cambria"/>
                <a:cs typeface="Cambria"/>
              </a:rPr>
              <a:t>Int</a:t>
            </a:r>
            <a:r>
              <a:rPr dirty="0" sz="2550" spc="-10">
                <a:solidFill>
                  <a:srgbClr val="262626"/>
                </a:solidFill>
                <a:latin typeface="Cambria"/>
                <a:cs typeface="Cambria"/>
              </a:rPr>
              <a:t>eg</a:t>
            </a:r>
            <a:r>
              <a:rPr dirty="0" baseline="1089" sz="3825" spc="-15">
                <a:solidFill>
                  <a:srgbClr val="262626"/>
                </a:solidFill>
                <a:latin typeface="Cambria"/>
                <a:cs typeface="Cambria"/>
              </a:rPr>
              <a:t>rati</a:t>
            </a:r>
            <a:r>
              <a:rPr dirty="0" sz="2550" spc="-10">
                <a:solidFill>
                  <a:srgbClr val="262626"/>
                </a:solidFill>
                <a:latin typeface="Cambria"/>
                <a:cs typeface="Cambria"/>
              </a:rPr>
              <a:t>o</a:t>
            </a:r>
            <a:r>
              <a:rPr dirty="0" baseline="1089" sz="3825" spc="-15">
                <a:solidFill>
                  <a:srgbClr val="262626"/>
                </a:solidFill>
                <a:latin typeface="Cambria"/>
                <a:cs typeface="Cambria"/>
              </a:rPr>
              <a:t>n</a:t>
            </a:r>
            <a:endParaRPr baseline="1089" sz="3825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550">
              <a:latin typeface="Cambria"/>
              <a:cs typeface="Cambria"/>
            </a:endParaRPr>
          </a:p>
          <a:p>
            <a:pPr marL="164465">
              <a:lnSpc>
                <a:spcPct val="100000"/>
              </a:lnSpc>
            </a:pPr>
            <a:r>
              <a:rPr dirty="0" sz="2250" spc="-85">
                <a:solidFill>
                  <a:srgbClr val="2B2B2B"/>
                </a:solidFill>
                <a:latin typeface="Calibri"/>
                <a:cs typeface="Calibri"/>
              </a:rPr>
              <a:t>Mi7fada</a:t>
            </a:r>
            <a:r>
              <a:rPr dirty="0" sz="2250" spc="-7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2250" spc="-85">
                <a:solidFill>
                  <a:srgbClr val="383838"/>
                </a:solidFill>
                <a:latin typeface="Calibri"/>
                <a:cs typeface="Calibri"/>
              </a:rPr>
              <a:t>integrates</a:t>
            </a:r>
            <a:r>
              <a:rPr dirty="0" sz="2250" spc="-1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424242"/>
                </a:solidFill>
                <a:latin typeface="Calibri"/>
                <a:cs typeface="Calibri"/>
              </a:rPr>
              <a:t>a</a:t>
            </a:r>
            <a:r>
              <a:rPr dirty="0" sz="2250" spc="-29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2250" spc="-55">
                <a:solidFill>
                  <a:srgbClr val="444444"/>
                </a:solidFill>
                <a:latin typeface="Calibri"/>
                <a:cs typeface="Calibri"/>
              </a:rPr>
              <a:t>24/7</a:t>
            </a:r>
            <a:r>
              <a:rPr dirty="0" sz="2250" spc="-13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2250" spc="-70">
                <a:solidFill>
                  <a:srgbClr val="282828"/>
                </a:solidFill>
                <a:latin typeface="Calibri"/>
                <a:cs typeface="Calibri"/>
              </a:rPr>
              <a:t>intelligent</a:t>
            </a:r>
            <a:r>
              <a:rPr dirty="0" sz="2250" spc="2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2250" spc="-50">
                <a:solidFill>
                  <a:srgbClr val="3D3D3D"/>
                </a:solidFill>
                <a:latin typeface="Calibri"/>
                <a:cs typeface="Calibri"/>
              </a:rPr>
              <a:t>assistant</a:t>
            </a:r>
            <a:r>
              <a:rPr dirty="0" sz="2250" spc="15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2250" spc="-65">
                <a:solidFill>
                  <a:srgbClr val="3B3B3B"/>
                </a:solidFill>
                <a:latin typeface="Calibri"/>
                <a:cs typeface="Calibri"/>
              </a:rPr>
              <a:t>directly</a:t>
            </a:r>
            <a:r>
              <a:rPr dirty="0" sz="2250" spc="-55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2250" spc="-50">
                <a:solidFill>
                  <a:srgbClr val="383838"/>
                </a:solidFill>
                <a:latin typeface="Calibri"/>
                <a:cs typeface="Calibri"/>
              </a:rPr>
              <a:t>into</a:t>
            </a:r>
            <a:r>
              <a:rPr dirty="0" sz="2250" spc="-7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250" spc="-70">
                <a:solidFill>
                  <a:srgbClr val="3D3D3D"/>
                </a:solidFill>
                <a:latin typeface="Calibri"/>
                <a:cs typeface="Calibri"/>
              </a:rPr>
              <a:t>the</a:t>
            </a:r>
            <a:r>
              <a:rPr dirty="0" sz="2250" spc="-195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2250" spc="-35">
                <a:solidFill>
                  <a:srgbClr val="363636"/>
                </a:solidFill>
                <a:latin typeface="Calibri"/>
                <a:cs typeface="Calibri"/>
              </a:rPr>
              <a:t>shopping</a:t>
            </a:r>
            <a:endParaRPr sz="2250">
              <a:latin typeface="Calibri"/>
              <a:cs typeface="Calibri"/>
            </a:endParaRPr>
          </a:p>
          <a:p>
            <a:pPr marL="161925">
              <a:lnSpc>
                <a:spcPct val="100000"/>
              </a:lnSpc>
              <a:spcBef>
                <a:spcPts val="335"/>
              </a:spcBef>
            </a:pPr>
            <a:r>
              <a:rPr dirty="0" sz="2300" spc="-10">
                <a:solidFill>
                  <a:srgbClr val="363636"/>
                </a:solidFill>
                <a:latin typeface="Calibri"/>
                <a:cs typeface="Calibri"/>
              </a:rPr>
              <a:t>inteJace.</a:t>
            </a:r>
            <a:endParaRPr sz="2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50"/>
              </a:spcBef>
            </a:pP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713105" algn="l"/>
              </a:tabLst>
            </a:pPr>
            <a:r>
              <a:rPr dirty="0" sz="3100" spc="-50">
                <a:solidFill>
                  <a:srgbClr val="876E62"/>
                </a:solidFill>
                <a:latin typeface="Calibri"/>
                <a:cs typeface="Calibri"/>
              </a:rPr>
              <a:t>1</a:t>
            </a:r>
            <a:r>
              <a:rPr dirty="0" sz="3100">
                <a:solidFill>
                  <a:srgbClr val="876E62"/>
                </a:solidFill>
                <a:latin typeface="Calibri"/>
                <a:cs typeface="Calibri"/>
              </a:rPr>
              <a:t>	</a:t>
            </a:r>
            <a:r>
              <a:rPr dirty="0" sz="3100" spc="-90">
                <a:solidFill>
                  <a:srgbClr val="3B3B3B"/>
                </a:solidFill>
                <a:latin typeface="Calibri"/>
                <a:cs typeface="Calibri"/>
              </a:rPr>
              <a:t>Instant</a:t>
            </a:r>
            <a:r>
              <a:rPr dirty="0" sz="3100" spc="-85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3100" spc="-75">
                <a:solidFill>
                  <a:srgbClr val="484848"/>
                </a:solidFill>
                <a:latin typeface="Calibri"/>
                <a:cs typeface="Calibri"/>
              </a:rPr>
              <a:t>Customer</a:t>
            </a:r>
            <a:r>
              <a:rPr dirty="0" sz="3100" spc="-8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3100" spc="-10">
                <a:solidFill>
                  <a:srgbClr val="424242"/>
                </a:solidFill>
                <a:latin typeface="Calibri"/>
                <a:cs typeface="Calibri"/>
              </a:rPr>
              <a:t>Support</a:t>
            </a:r>
            <a:endParaRPr sz="3100">
              <a:latin typeface="Calibri"/>
              <a:cs typeface="Calibri"/>
            </a:endParaRPr>
          </a:p>
          <a:p>
            <a:pPr marL="13970">
              <a:lnSpc>
                <a:spcPct val="100000"/>
              </a:lnSpc>
              <a:spcBef>
                <a:spcPts val="3155"/>
              </a:spcBef>
              <a:tabLst>
                <a:tab pos="713740" algn="l"/>
              </a:tabLst>
            </a:pPr>
            <a:r>
              <a:rPr dirty="0" sz="3050" spc="-50">
                <a:solidFill>
                  <a:srgbClr val="937769"/>
                </a:solidFill>
                <a:latin typeface="Calibri"/>
                <a:cs typeface="Calibri"/>
              </a:rPr>
              <a:t>1</a:t>
            </a:r>
            <a:r>
              <a:rPr dirty="0" sz="3050">
                <a:solidFill>
                  <a:srgbClr val="937769"/>
                </a:solidFill>
                <a:latin typeface="Calibri"/>
                <a:cs typeface="Calibri"/>
              </a:rPr>
              <a:t>	</a:t>
            </a:r>
            <a:r>
              <a:rPr dirty="0" sz="3050" spc="-80">
                <a:solidFill>
                  <a:srgbClr val="424242"/>
                </a:solidFill>
                <a:latin typeface="Calibri"/>
                <a:cs typeface="Calibri"/>
              </a:rPr>
              <a:t>Product</a:t>
            </a:r>
            <a:r>
              <a:rPr dirty="0" sz="3050" spc="-6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3050" spc="-20">
                <a:solidFill>
                  <a:srgbClr val="343434"/>
                </a:solidFill>
                <a:latin typeface="Calibri"/>
                <a:cs typeface="Calibri"/>
              </a:rPr>
              <a:t>Recommendations</a:t>
            </a:r>
            <a:endParaRPr sz="3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90"/>
              </a:spcBef>
              <a:tabLst>
                <a:tab pos="713740" algn="l"/>
              </a:tabLst>
            </a:pPr>
            <a:r>
              <a:rPr dirty="0" sz="3100" spc="-50">
                <a:solidFill>
                  <a:srgbClr val="8C7064"/>
                </a:solidFill>
                <a:latin typeface="Calibri"/>
                <a:cs typeface="Calibri"/>
              </a:rPr>
              <a:t>1</a:t>
            </a:r>
            <a:r>
              <a:rPr dirty="0" sz="3100">
                <a:solidFill>
                  <a:srgbClr val="8C7064"/>
                </a:solidFill>
                <a:latin typeface="Calibri"/>
                <a:cs typeface="Calibri"/>
              </a:rPr>
              <a:t>	</a:t>
            </a:r>
            <a:r>
              <a:rPr dirty="0" sz="3100" spc="-100">
                <a:solidFill>
                  <a:srgbClr val="444444"/>
                </a:solidFill>
                <a:latin typeface="Calibri"/>
                <a:cs typeface="Calibri"/>
              </a:rPr>
              <a:t>Guided</a:t>
            </a:r>
            <a:r>
              <a:rPr dirty="0" sz="3100" spc="-18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3100" spc="-125">
                <a:solidFill>
                  <a:srgbClr val="3B3B3B"/>
                </a:solidFill>
                <a:latin typeface="Calibri"/>
                <a:cs typeface="Calibri"/>
              </a:rPr>
              <a:t>Shopping</a:t>
            </a:r>
            <a:r>
              <a:rPr dirty="0" sz="3100" spc="-5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3100" spc="-10">
                <a:solidFill>
                  <a:srgbClr val="494949"/>
                </a:solidFill>
                <a:latin typeface="Calibri"/>
                <a:cs typeface="Calibri"/>
              </a:rPr>
              <a:t>Experience</a:t>
            </a:r>
            <a:endParaRPr sz="3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24581" y="2305128"/>
            <a:ext cx="18517870" cy="0"/>
          </a:xfrm>
          <a:custGeom>
            <a:avLst/>
            <a:gdLst/>
            <a:ahLst/>
            <a:cxnLst/>
            <a:rect l="l" t="t" r="r" b="b"/>
            <a:pathLst>
              <a:path w="18517870" h="0">
                <a:moveTo>
                  <a:pt x="0" y="0"/>
                </a:moveTo>
                <a:lnTo>
                  <a:pt x="18517762" y="0"/>
                </a:lnTo>
              </a:path>
            </a:pathLst>
          </a:custGeom>
          <a:ln w="235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02091" y="-15708"/>
            <a:ext cx="12997180" cy="110489"/>
            <a:chOff x="102091" y="-15708"/>
            <a:chExt cx="12997180" cy="110489"/>
          </a:xfrm>
        </p:grpSpPr>
        <p:sp>
          <p:nvSpPr>
            <p:cNvPr id="4" name="object 4" descr=""/>
            <p:cNvSpPr/>
            <p:nvPr/>
          </p:nvSpPr>
          <p:spPr>
            <a:xfrm>
              <a:off x="102091" y="74611"/>
              <a:ext cx="12997180" cy="0"/>
            </a:xfrm>
            <a:custGeom>
              <a:avLst/>
              <a:gdLst/>
              <a:ahLst/>
              <a:cxnLst/>
              <a:rect l="l" t="t" r="r" b="b"/>
              <a:pathLst>
                <a:path w="12997180" h="0">
                  <a:moveTo>
                    <a:pt x="0" y="0"/>
                  </a:moveTo>
                  <a:lnTo>
                    <a:pt x="12996987" y="0"/>
                  </a:lnTo>
                </a:path>
              </a:pathLst>
            </a:custGeom>
            <a:ln w="39269">
              <a:solidFill>
                <a:srgbClr val="77574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25650" y="3926"/>
              <a:ext cx="12847955" cy="0"/>
            </a:xfrm>
            <a:custGeom>
              <a:avLst/>
              <a:gdLst/>
              <a:ahLst/>
              <a:cxnLst/>
              <a:rect l="l" t="t" r="r" b="b"/>
              <a:pathLst>
                <a:path w="12847955" h="0">
                  <a:moveTo>
                    <a:pt x="0" y="0"/>
                  </a:moveTo>
                  <a:lnTo>
                    <a:pt x="12847777" y="0"/>
                  </a:lnTo>
                </a:path>
              </a:pathLst>
            </a:custGeom>
            <a:ln w="39269">
              <a:solidFill>
                <a:srgbClr val="77574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94009" y="6597301"/>
            <a:ext cx="628253" cy="314157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84713" y="5167886"/>
            <a:ext cx="659665" cy="65973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18363" y="5120763"/>
            <a:ext cx="942379" cy="753977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29845">
              <a:lnSpc>
                <a:spcPct val="100000"/>
              </a:lnSpc>
              <a:spcBef>
                <a:spcPts val="115"/>
              </a:spcBef>
            </a:pPr>
            <a:r>
              <a:rPr dirty="0" sz="7200" spc="-95">
                <a:solidFill>
                  <a:srgbClr val="242424"/>
                </a:solidFill>
              </a:rPr>
              <a:t>Technical</a:t>
            </a:r>
            <a:r>
              <a:rPr dirty="0" sz="7200" spc="-254">
                <a:solidFill>
                  <a:srgbClr val="242424"/>
                </a:solidFill>
              </a:rPr>
              <a:t> </a:t>
            </a:r>
            <a:r>
              <a:rPr dirty="0" sz="7200" spc="-155"/>
              <a:t>Architecture</a:t>
            </a:r>
            <a:endParaRPr sz="7200"/>
          </a:p>
        </p:txBody>
      </p:sp>
      <p:sp>
        <p:nvSpPr>
          <p:cNvPr id="10" name="object 10" descr=""/>
          <p:cNvSpPr txBox="1"/>
          <p:nvPr/>
        </p:nvSpPr>
        <p:spPr>
          <a:xfrm>
            <a:off x="3062248" y="6430141"/>
            <a:ext cx="1297940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 spc="-10">
                <a:solidFill>
                  <a:srgbClr val="181818"/>
                </a:solidFill>
                <a:latin typeface="Calibri"/>
                <a:cs typeface="Calibri"/>
              </a:rPr>
              <a:t>Streamlit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253219" y="7075472"/>
            <a:ext cx="4912360" cy="123507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algn="ctr" marL="12700" marR="5080" indent="5715">
              <a:lnSpc>
                <a:spcPct val="114300"/>
              </a:lnSpc>
              <a:spcBef>
                <a:spcPts val="155"/>
              </a:spcBef>
            </a:pPr>
            <a:r>
              <a:rPr dirty="0" sz="2300" spc="-90">
                <a:solidFill>
                  <a:srgbClr val="424242"/>
                </a:solidFill>
                <a:latin typeface="Calibri"/>
                <a:cs typeface="Calibri"/>
              </a:rPr>
              <a:t>The</a:t>
            </a:r>
            <a:r>
              <a:rPr dirty="0" sz="2300" spc="-195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2300" spc="-105">
                <a:solidFill>
                  <a:srgbClr val="343434"/>
                </a:solidFill>
                <a:latin typeface="Calibri"/>
                <a:cs typeface="Calibri"/>
              </a:rPr>
              <a:t>entire</a:t>
            </a:r>
            <a:r>
              <a:rPr dirty="0" sz="2300" spc="-12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300" spc="-110">
                <a:solidFill>
                  <a:srgbClr val="343434"/>
                </a:solidFill>
                <a:latin typeface="Calibri"/>
                <a:cs typeface="Calibri"/>
              </a:rPr>
              <a:t>frontend</a:t>
            </a:r>
            <a:r>
              <a:rPr dirty="0" sz="2300" spc="-5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300" spc="-40">
                <a:solidFill>
                  <a:srgbClr val="383838"/>
                </a:solidFill>
                <a:latin typeface="Calibri"/>
                <a:cs typeface="Calibri"/>
              </a:rPr>
              <a:t>is</a:t>
            </a:r>
            <a:r>
              <a:rPr dirty="0" sz="2300" spc="-17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300" spc="-80">
                <a:solidFill>
                  <a:srgbClr val="3D3D3D"/>
                </a:solidFill>
                <a:latin typeface="Calibri"/>
                <a:cs typeface="Calibri"/>
              </a:rPr>
              <a:t>built</a:t>
            </a:r>
            <a:r>
              <a:rPr dirty="0" sz="2300" spc="-10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2300" spc="-95">
                <a:solidFill>
                  <a:srgbClr val="343434"/>
                </a:solidFill>
                <a:latin typeface="Calibri"/>
                <a:cs typeface="Calibri"/>
              </a:rPr>
              <a:t>with </a:t>
            </a:r>
            <a:r>
              <a:rPr dirty="0" sz="2300" spc="-10">
                <a:solidFill>
                  <a:srgbClr val="2F2F2F"/>
                </a:solidFill>
                <a:latin typeface="Calibri"/>
                <a:cs typeface="Calibri"/>
              </a:rPr>
              <a:t>Streamlit, </a:t>
            </a:r>
            <a:r>
              <a:rPr dirty="0" sz="2300" spc="-114">
                <a:solidFill>
                  <a:srgbClr val="3B3B3B"/>
                </a:solidFill>
                <a:latin typeface="Calibri"/>
                <a:cs typeface="Calibri"/>
              </a:rPr>
              <a:t>leveraging</a:t>
            </a:r>
            <a:r>
              <a:rPr dirty="0" sz="2300" spc="95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2300" spc="-90">
                <a:solidFill>
                  <a:srgbClr val="333333"/>
                </a:solidFill>
                <a:latin typeface="Calibri"/>
                <a:cs typeface="Calibri"/>
              </a:rPr>
              <a:t>Python</a:t>
            </a:r>
            <a:r>
              <a:rPr dirty="0" sz="23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363636"/>
                </a:solidFill>
                <a:latin typeface="Calibri"/>
                <a:cs typeface="Calibri"/>
              </a:rPr>
              <a:t>fora</a:t>
            </a:r>
            <a:r>
              <a:rPr dirty="0" sz="2300" spc="-21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300" spc="-100">
                <a:solidFill>
                  <a:srgbClr val="383838"/>
                </a:solidFill>
                <a:latin typeface="Calibri"/>
                <a:cs typeface="Calibri"/>
              </a:rPr>
              <a:t>rapid,</a:t>
            </a:r>
            <a:r>
              <a:rPr dirty="0" sz="2300" spc="-20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300" spc="-110">
                <a:solidFill>
                  <a:srgbClr val="333333"/>
                </a:solidFill>
                <a:latin typeface="Calibri"/>
                <a:cs typeface="Calibri"/>
              </a:rPr>
              <a:t>responsive,</a:t>
            </a:r>
            <a:r>
              <a:rPr dirty="0" sz="2300" spc="-10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2300" spc="-25">
                <a:solidFill>
                  <a:srgbClr val="383838"/>
                </a:solidFill>
                <a:latin typeface="Calibri"/>
                <a:cs typeface="Calibri"/>
              </a:rPr>
              <a:t>and </a:t>
            </a:r>
            <a:r>
              <a:rPr dirty="0" sz="2300" spc="-110">
                <a:solidFill>
                  <a:srgbClr val="313131"/>
                </a:solidFill>
                <a:latin typeface="Calibri"/>
                <a:cs typeface="Calibri"/>
              </a:rPr>
              <a:t>data-</a:t>
            </a:r>
            <a:r>
              <a:rPr dirty="0" sz="2300" spc="-90">
                <a:solidFill>
                  <a:srgbClr val="313131"/>
                </a:solidFill>
                <a:latin typeface="Calibri"/>
                <a:cs typeface="Calibri"/>
              </a:rPr>
              <a:t>friendly</a:t>
            </a:r>
            <a:r>
              <a:rPr dirty="0" sz="2300" spc="45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2300" spc="-25">
                <a:solidFill>
                  <a:srgbClr val="3D3D3D"/>
                </a:solidFill>
                <a:latin typeface="Calibri"/>
                <a:cs typeface="Calibri"/>
              </a:rPr>
              <a:t>UI.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5499717" y="6422287"/>
            <a:ext cx="1780539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 spc="60">
                <a:solidFill>
                  <a:srgbClr val="1A1A1A"/>
                </a:solidFill>
                <a:latin typeface="Times New Roman"/>
                <a:cs typeface="Times New Roman"/>
              </a:rPr>
              <a:t>Botpress</a:t>
            </a:r>
            <a:r>
              <a:rPr dirty="0" sz="2550" spc="-17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550" spc="-40">
                <a:solidFill>
                  <a:srgbClr val="262626"/>
                </a:solidFill>
                <a:latin typeface="Times New Roman"/>
                <a:cs typeface="Times New Roman"/>
              </a:rPr>
              <a:t>API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3996168" y="7075472"/>
            <a:ext cx="4771390" cy="123507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algn="ctr" marL="12700" marR="5080" indent="10795">
              <a:lnSpc>
                <a:spcPct val="114300"/>
              </a:lnSpc>
              <a:spcBef>
                <a:spcPts val="155"/>
              </a:spcBef>
            </a:pPr>
            <a:r>
              <a:rPr dirty="0" sz="2300" spc="-90">
                <a:solidFill>
                  <a:srgbClr val="3D3D3D"/>
                </a:solidFill>
                <a:latin typeface="Calibri"/>
                <a:cs typeface="Calibri"/>
              </a:rPr>
              <a:t>The</a:t>
            </a:r>
            <a:r>
              <a:rPr dirty="0" sz="2300" spc="-18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2300" spc="-90">
                <a:solidFill>
                  <a:srgbClr val="343434"/>
                </a:solidFill>
                <a:latin typeface="Calibri"/>
                <a:cs typeface="Calibri"/>
              </a:rPr>
              <a:t>conversational</a:t>
            </a:r>
            <a:r>
              <a:rPr dirty="0" sz="2300" spc="-235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300" spc="-90">
                <a:solidFill>
                  <a:srgbClr val="3D3D3D"/>
                </a:solidFill>
                <a:latin typeface="Calibri"/>
                <a:cs typeface="Calibri"/>
              </a:rPr>
              <a:t>logic</a:t>
            </a:r>
            <a:r>
              <a:rPr dirty="0" sz="2300" spc="-8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2300" spc="-40">
                <a:solidFill>
                  <a:srgbClr val="343434"/>
                </a:solidFill>
                <a:latin typeface="Calibri"/>
                <a:cs typeface="Calibri"/>
              </a:rPr>
              <a:t>is</a:t>
            </a:r>
            <a:r>
              <a:rPr dirty="0" sz="2300" spc="-16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300" spc="-130">
                <a:solidFill>
                  <a:srgbClr val="383838"/>
                </a:solidFill>
                <a:latin typeface="Calibri"/>
                <a:cs typeface="Calibri"/>
              </a:rPr>
              <a:t>handled</a:t>
            </a:r>
            <a:r>
              <a:rPr dirty="0" sz="2300" spc="1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300" spc="-25">
                <a:solidFill>
                  <a:srgbClr val="383838"/>
                </a:solidFill>
                <a:latin typeface="Calibri"/>
                <a:cs typeface="Calibri"/>
              </a:rPr>
              <a:t>by </a:t>
            </a:r>
            <a:r>
              <a:rPr dirty="0" sz="2300" spc="-95">
                <a:solidFill>
                  <a:srgbClr val="2A2A2A"/>
                </a:solidFill>
                <a:latin typeface="Calibri"/>
                <a:cs typeface="Calibri"/>
              </a:rPr>
              <a:t>Botpress,</a:t>
            </a:r>
            <a:r>
              <a:rPr dirty="0" sz="2300" spc="-6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2300" spc="-140">
                <a:solidFill>
                  <a:srgbClr val="2F2F2F"/>
                </a:solidFill>
                <a:latin typeface="Calibri"/>
                <a:cs typeface="Calibri"/>
              </a:rPr>
              <a:t>connected</a:t>
            </a:r>
            <a:r>
              <a:rPr dirty="0" sz="2300" spc="10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dirty="0" sz="2300" spc="-110">
                <a:solidFill>
                  <a:srgbClr val="313131"/>
                </a:solidFill>
                <a:latin typeface="Calibri"/>
                <a:cs typeface="Calibri"/>
              </a:rPr>
              <a:t>seamlessly</a:t>
            </a:r>
            <a:r>
              <a:rPr dirty="0" sz="2300" spc="-35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2300" spc="-50">
                <a:solidFill>
                  <a:srgbClr val="3D3D3D"/>
                </a:solidFill>
                <a:latin typeface="Calibri"/>
                <a:cs typeface="Calibri"/>
              </a:rPr>
              <a:t>via</a:t>
            </a:r>
            <a:r>
              <a:rPr dirty="0" sz="2300" spc="-204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464646"/>
                </a:solidFill>
                <a:latin typeface="Calibri"/>
                <a:cs typeface="Calibri"/>
              </a:rPr>
              <a:t>API</a:t>
            </a:r>
            <a:r>
              <a:rPr dirty="0" sz="2300" spc="-105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300" spc="-20">
                <a:solidFill>
                  <a:srgbClr val="343434"/>
                </a:solidFill>
                <a:latin typeface="Calibri"/>
                <a:cs typeface="Calibri"/>
              </a:rPr>
              <a:t>calls </a:t>
            </a:r>
            <a:r>
              <a:rPr dirty="0" sz="2300" spc="-60">
                <a:solidFill>
                  <a:srgbClr val="3D3D3D"/>
                </a:solidFill>
                <a:latin typeface="Calibri"/>
                <a:cs typeface="Calibri"/>
              </a:rPr>
              <a:t>to</a:t>
            </a:r>
            <a:r>
              <a:rPr dirty="0" sz="2300" spc="-17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2300" spc="-85">
                <a:solidFill>
                  <a:srgbClr val="3D3D3D"/>
                </a:solidFill>
                <a:latin typeface="Calibri"/>
                <a:cs typeface="Calibri"/>
              </a:rPr>
              <a:t>the</a:t>
            </a:r>
            <a:r>
              <a:rPr dirty="0" sz="2300" spc="-185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2300" spc="-105">
                <a:solidFill>
                  <a:srgbClr val="3D3D3D"/>
                </a:solidFill>
                <a:latin typeface="Calibri"/>
                <a:cs typeface="Calibri"/>
              </a:rPr>
              <a:t>Streamlit</a:t>
            </a:r>
            <a:r>
              <a:rPr dirty="0" sz="2300" spc="-8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2300" spc="-20">
                <a:solidFill>
                  <a:srgbClr val="2D2D2D"/>
                </a:solidFill>
                <a:latin typeface="Calibri"/>
                <a:cs typeface="Calibri"/>
              </a:rPr>
              <a:t>application.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4267" y="1130965"/>
            <a:ext cx="2295780" cy="65219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8534" y="1130965"/>
            <a:ext cx="4395533" cy="65219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085" y="0"/>
            <a:ext cx="19987241" cy="124405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787878" y="2335444"/>
            <a:ext cx="18536285" cy="0"/>
          </a:xfrm>
          <a:custGeom>
            <a:avLst/>
            <a:gdLst/>
            <a:ahLst/>
            <a:cxnLst/>
            <a:rect l="l" t="t" r="r" b="b"/>
            <a:pathLst>
              <a:path w="18536285" h="0">
                <a:moveTo>
                  <a:pt x="0" y="0"/>
                </a:moveTo>
                <a:lnTo>
                  <a:pt x="18535885" y="0"/>
                </a:lnTo>
              </a:path>
            </a:pathLst>
          </a:custGeom>
          <a:ln w="33928">
            <a:solidFill>
              <a:srgbClr val="9C87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79581" y="3966258"/>
            <a:ext cx="7785734" cy="53911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350" spc="-8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dirty="0" sz="3350" spc="-114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3350">
                <a:solidFill>
                  <a:srgbClr val="424242"/>
                </a:solidFill>
                <a:latin typeface="Calibri"/>
                <a:cs typeface="Calibri"/>
              </a:rPr>
              <a:t>AI</a:t>
            </a:r>
            <a:r>
              <a:rPr dirty="0" sz="3350" spc="-19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3350" spc="-20">
                <a:solidFill>
                  <a:srgbClr val="424242"/>
                </a:solidFill>
                <a:latin typeface="Calibri"/>
                <a:cs typeface="Calibri"/>
              </a:rPr>
              <a:t>is</a:t>
            </a:r>
            <a:r>
              <a:rPr dirty="0" sz="3350" spc="-215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3350" spc="-120">
                <a:solidFill>
                  <a:srgbClr val="3F3F3F"/>
                </a:solidFill>
                <a:latin typeface="Calibri"/>
                <a:cs typeface="Calibri"/>
              </a:rPr>
              <a:t>designed</a:t>
            </a:r>
            <a:r>
              <a:rPr dirty="0" sz="3350" spc="-6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3350" spc="-60">
                <a:solidFill>
                  <a:srgbClr val="464646"/>
                </a:solidFill>
                <a:latin typeface="Calibri"/>
                <a:cs typeface="Calibri"/>
              </a:rPr>
              <a:t>for</a:t>
            </a:r>
            <a:r>
              <a:rPr dirty="0" sz="3350" spc="-65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3350" spc="-50">
                <a:solidFill>
                  <a:srgbClr val="2D2D2D"/>
                </a:solidFill>
                <a:latin typeface="Calibri"/>
                <a:cs typeface="Calibri"/>
              </a:rPr>
              <a:t>reliability</a:t>
            </a:r>
            <a:r>
              <a:rPr dirty="0" sz="3350" spc="-4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dirty="0" sz="3350" spc="-180">
                <a:solidFill>
                  <a:srgbClr val="313131"/>
                </a:solidFill>
                <a:latin typeface="Calibri"/>
                <a:cs typeface="Calibri"/>
              </a:rPr>
              <a:t>and</a:t>
            </a:r>
            <a:r>
              <a:rPr dirty="0" sz="3350" spc="-8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3350" spc="-70">
                <a:solidFill>
                  <a:srgbClr val="3D3D3D"/>
                </a:solidFill>
                <a:latin typeface="Calibri"/>
                <a:cs typeface="Calibri"/>
              </a:rPr>
              <a:t>consistency</a:t>
            </a:r>
            <a:endParaRPr sz="33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41275">
              <a:lnSpc>
                <a:spcPct val="100000"/>
              </a:lnSpc>
              <a:spcBef>
                <a:spcPts val="105"/>
              </a:spcBef>
            </a:pPr>
            <a:r>
              <a:rPr dirty="0" spc="-90">
                <a:solidFill>
                  <a:srgbClr val="3B3B3B"/>
                </a:solidFill>
              </a:rPr>
              <a:t>using</a:t>
            </a:r>
            <a:r>
              <a:rPr dirty="0" spc="-75">
                <a:solidFill>
                  <a:srgbClr val="3B3B3B"/>
                </a:solidFill>
              </a:rPr>
              <a:t> </a:t>
            </a:r>
            <a:r>
              <a:rPr dirty="0" spc="-10"/>
              <a:t>Botpress.</a:t>
            </a:r>
          </a:p>
          <a:p>
            <a:pPr>
              <a:lnSpc>
                <a:spcPct val="100000"/>
              </a:lnSpc>
              <a:spcBef>
                <a:spcPts val="425"/>
              </a:spcBef>
            </a:pPr>
          </a:p>
          <a:p>
            <a:pPr marL="12700">
              <a:lnSpc>
                <a:spcPct val="100000"/>
              </a:lnSpc>
              <a:tabLst>
                <a:tab pos="589280" algn="l"/>
              </a:tabLst>
            </a:pPr>
            <a:r>
              <a:rPr dirty="0" sz="3050" spc="-425">
                <a:solidFill>
                  <a:srgbClr val="876B5D"/>
                </a:solidFill>
              </a:rPr>
              <a:t>•*’</a:t>
            </a:r>
            <a:r>
              <a:rPr dirty="0" sz="3050">
                <a:solidFill>
                  <a:srgbClr val="876B5D"/>
                </a:solidFill>
              </a:rPr>
              <a:t>	</a:t>
            </a:r>
            <a:r>
              <a:rPr dirty="0" sz="3050" spc="-10">
                <a:solidFill>
                  <a:srgbClr val="3F3F3F"/>
                </a:solidFill>
              </a:rPr>
              <a:t>Knowledge</a:t>
            </a:r>
            <a:r>
              <a:rPr dirty="0" sz="3050" spc="-120">
                <a:solidFill>
                  <a:srgbClr val="3F3F3F"/>
                </a:solidFill>
              </a:rPr>
              <a:t> </a:t>
            </a:r>
            <a:r>
              <a:rPr dirty="0" sz="3050">
                <a:solidFill>
                  <a:srgbClr val="424242"/>
                </a:solidFill>
              </a:rPr>
              <a:t>Base:</a:t>
            </a:r>
            <a:r>
              <a:rPr dirty="0" sz="3050" spc="-170">
                <a:solidFill>
                  <a:srgbClr val="424242"/>
                </a:solidFill>
              </a:rPr>
              <a:t> </a:t>
            </a:r>
            <a:r>
              <a:rPr dirty="0" sz="3050" spc="-75">
                <a:solidFill>
                  <a:srgbClr val="3F3F3F"/>
                </a:solidFill>
              </a:rPr>
              <a:t>Pre-</a:t>
            </a:r>
            <a:r>
              <a:rPr dirty="0" sz="3050" spc="-40">
                <a:solidFill>
                  <a:srgbClr val="3F3F3F"/>
                </a:solidFill>
              </a:rPr>
              <a:t>loaded</a:t>
            </a:r>
            <a:r>
              <a:rPr dirty="0" sz="3050" spc="10">
                <a:solidFill>
                  <a:srgbClr val="3F3F3F"/>
                </a:solidFill>
              </a:rPr>
              <a:t> </a:t>
            </a:r>
            <a:r>
              <a:rPr dirty="0" sz="3050" spc="-65">
                <a:solidFill>
                  <a:srgbClr val="363636"/>
                </a:solidFill>
              </a:rPr>
              <a:t>with</a:t>
            </a:r>
            <a:r>
              <a:rPr dirty="0" sz="3050" spc="-210">
                <a:solidFill>
                  <a:srgbClr val="363636"/>
                </a:solidFill>
              </a:rPr>
              <a:t> </a:t>
            </a:r>
            <a:r>
              <a:rPr dirty="0" sz="3050" spc="-95">
                <a:solidFill>
                  <a:srgbClr val="424242"/>
                </a:solidFill>
              </a:rPr>
              <a:t>product</a:t>
            </a:r>
            <a:r>
              <a:rPr dirty="0" sz="3050" spc="-60">
                <a:solidFill>
                  <a:srgbClr val="424242"/>
                </a:solidFill>
              </a:rPr>
              <a:t> </a:t>
            </a:r>
            <a:r>
              <a:rPr dirty="0" sz="3050" spc="-10">
                <a:solidFill>
                  <a:srgbClr val="3D3D3D"/>
                </a:solidFill>
              </a:rPr>
              <a:t>details,</a:t>
            </a:r>
            <a:endParaRPr sz="3050"/>
          </a:p>
          <a:p>
            <a:pPr marL="598805">
              <a:lnSpc>
                <a:spcPct val="100000"/>
              </a:lnSpc>
              <a:spcBef>
                <a:spcPts val="625"/>
              </a:spcBef>
            </a:pPr>
            <a:r>
              <a:rPr dirty="0" sz="3100" spc="-114">
                <a:solidFill>
                  <a:srgbClr val="363636"/>
                </a:solidFill>
              </a:rPr>
              <a:t>shipping</a:t>
            </a:r>
            <a:r>
              <a:rPr dirty="0" sz="3100" spc="-70">
                <a:solidFill>
                  <a:srgbClr val="363636"/>
                </a:solidFill>
              </a:rPr>
              <a:t> </a:t>
            </a:r>
            <a:r>
              <a:rPr dirty="0" sz="3100" spc="-80">
                <a:solidFill>
                  <a:srgbClr val="3B3B3B"/>
                </a:solidFill>
              </a:rPr>
              <a:t>policies,</a:t>
            </a:r>
            <a:r>
              <a:rPr dirty="0" sz="3100" spc="5">
                <a:solidFill>
                  <a:srgbClr val="3B3B3B"/>
                </a:solidFill>
              </a:rPr>
              <a:t> </a:t>
            </a:r>
            <a:r>
              <a:rPr dirty="0" sz="3100" spc="-185">
                <a:solidFill>
                  <a:srgbClr val="444444"/>
                </a:solidFill>
              </a:rPr>
              <a:t>and</a:t>
            </a:r>
            <a:r>
              <a:rPr dirty="0" sz="3100" spc="-135">
                <a:solidFill>
                  <a:srgbClr val="444444"/>
                </a:solidFill>
              </a:rPr>
              <a:t> </a:t>
            </a:r>
            <a:r>
              <a:rPr dirty="0" sz="3100" spc="-75">
                <a:solidFill>
                  <a:srgbClr val="4D4D4D"/>
                </a:solidFill>
              </a:rPr>
              <a:t>store</a:t>
            </a:r>
            <a:r>
              <a:rPr dirty="0" sz="3100" spc="-60">
                <a:solidFill>
                  <a:srgbClr val="4D4D4D"/>
                </a:solidFill>
              </a:rPr>
              <a:t> </a:t>
            </a:r>
            <a:r>
              <a:rPr dirty="0" sz="3100" spc="-35">
                <a:solidFill>
                  <a:srgbClr val="363636"/>
                </a:solidFill>
              </a:rPr>
              <a:t>information.</a:t>
            </a:r>
            <a:endParaRPr sz="3100"/>
          </a:p>
          <a:p>
            <a:pPr marL="592455" marR="405130" indent="-557530">
              <a:lnSpc>
                <a:spcPct val="116500"/>
              </a:lnSpc>
              <a:spcBef>
                <a:spcPts val="2465"/>
              </a:spcBef>
              <a:tabLst>
                <a:tab pos="589280" algn="l"/>
              </a:tabLst>
            </a:pPr>
            <a:r>
              <a:rPr dirty="0" sz="3100" spc="-25">
                <a:solidFill>
                  <a:srgbClr val="85695B"/>
                </a:solidFill>
              </a:rPr>
              <a:t>+’</a:t>
            </a:r>
            <a:r>
              <a:rPr dirty="0" sz="3100">
                <a:solidFill>
                  <a:srgbClr val="85695B"/>
                </a:solidFill>
              </a:rPr>
              <a:t>	</a:t>
            </a:r>
            <a:r>
              <a:rPr dirty="0" sz="3100" spc="-10">
                <a:solidFill>
                  <a:srgbClr val="444444"/>
                </a:solidFill>
              </a:rPr>
              <a:t>Hardcoded</a:t>
            </a:r>
            <a:r>
              <a:rPr dirty="0" sz="3100" spc="-114">
                <a:solidFill>
                  <a:srgbClr val="444444"/>
                </a:solidFill>
              </a:rPr>
              <a:t> </a:t>
            </a:r>
            <a:r>
              <a:rPr dirty="0" sz="3100" spc="-30">
                <a:solidFill>
                  <a:srgbClr val="464646"/>
                </a:solidFill>
              </a:rPr>
              <a:t>Logic:</a:t>
            </a:r>
            <a:r>
              <a:rPr dirty="0" sz="3100" spc="-145">
                <a:solidFill>
                  <a:srgbClr val="464646"/>
                </a:solidFill>
              </a:rPr>
              <a:t> </a:t>
            </a:r>
            <a:r>
              <a:rPr dirty="0" sz="3100" spc="-50">
                <a:solidFill>
                  <a:srgbClr val="3D3D3D"/>
                </a:solidFill>
              </a:rPr>
              <a:t>Ensures</a:t>
            </a:r>
            <a:r>
              <a:rPr dirty="0" sz="3100" spc="-35">
                <a:solidFill>
                  <a:srgbClr val="3D3D3D"/>
                </a:solidFill>
              </a:rPr>
              <a:t> </a:t>
            </a:r>
            <a:r>
              <a:rPr dirty="0" sz="3100" spc="-125">
                <a:solidFill>
                  <a:srgbClr val="3D3D3D"/>
                </a:solidFill>
              </a:rPr>
              <a:t>accurate,</a:t>
            </a:r>
            <a:r>
              <a:rPr dirty="0" sz="3100" spc="-50">
                <a:solidFill>
                  <a:srgbClr val="3D3D3D"/>
                </a:solidFill>
              </a:rPr>
              <a:t> </a:t>
            </a:r>
            <a:r>
              <a:rPr dirty="0" sz="3100" spc="-125">
                <a:solidFill>
                  <a:srgbClr val="2F2F2F"/>
                </a:solidFill>
              </a:rPr>
              <a:t>brand-</a:t>
            </a:r>
            <a:r>
              <a:rPr dirty="0" sz="3100" spc="-20">
                <a:solidFill>
                  <a:srgbClr val="2F2F2F"/>
                </a:solidFill>
              </a:rPr>
              <a:t>safe </a:t>
            </a:r>
            <a:r>
              <a:rPr dirty="0" sz="3100" spc="-90"/>
              <a:t>responses</a:t>
            </a:r>
            <a:r>
              <a:rPr dirty="0" sz="3100" spc="5"/>
              <a:t> </a:t>
            </a:r>
            <a:r>
              <a:rPr dirty="0" sz="3100" spc="-125"/>
              <a:t>without</a:t>
            </a:r>
            <a:r>
              <a:rPr dirty="0" sz="3100" spc="-45"/>
              <a:t> </a:t>
            </a:r>
            <a:r>
              <a:rPr dirty="0" sz="3100" spc="-10">
                <a:solidFill>
                  <a:srgbClr val="363636"/>
                </a:solidFill>
              </a:rPr>
              <a:t>hallucinations.</a:t>
            </a:r>
            <a:endParaRPr sz="3100"/>
          </a:p>
          <a:p>
            <a:pPr marL="592455" marR="286385" indent="-557530">
              <a:lnSpc>
                <a:spcPct val="116500"/>
              </a:lnSpc>
              <a:spcBef>
                <a:spcPts val="2610"/>
              </a:spcBef>
              <a:tabLst>
                <a:tab pos="588645" algn="l"/>
              </a:tabLst>
            </a:pPr>
            <a:r>
              <a:rPr dirty="0" sz="3100" spc="-25">
                <a:solidFill>
                  <a:srgbClr val="957569"/>
                </a:solidFill>
              </a:rPr>
              <a:t>+’</a:t>
            </a:r>
            <a:r>
              <a:rPr dirty="0" sz="3100">
                <a:solidFill>
                  <a:srgbClr val="957569"/>
                </a:solidFill>
              </a:rPr>
              <a:t>	</a:t>
            </a:r>
            <a:r>
              <a:rPr dirty="0" sz="3100">
                <a:solidFill>
                  <a:srgbClr val="424242"/>
                </a:solidFill>
              </a:rPr>
              <a:t>Efficiency:</a:t>
            </a:r>
            <a:r>
              <a:rPr dirty="0" sz="3100" spc="-80">
                <a:solidFill>
                  <a:srgbClr val="424242"/>
                </a:solidFill>
              </a:rPr>
              <a:t> </a:t>
            </a:r>
            <a:r>
              <a:rPr dirty="0" sz="3100" spc="-70">
                <a:solidFill>
                  <a:srgbClr val="3B3B3B"/>
                </a:solidFill>
              </a:rPr>
              <a:t>Handles</a:t>
            </a:r>
            <a:r>
              <a:rPr dirty="0" sz="3100" spc="10">
                <a:solidFill>
                  <a:srgbClr val="3B3B3B"/>
                </a:solidFill>
              </a:rPr>
              <a:t> </a:t>
            </a:r>
            <a:r>
              <a:rPr dirty="0" sz="3100">
                <a:solidFill>
                  <a:srgbClr val="3F3F3F"/>
                </a:solidFill>
              </a:rPr>
              <a:t>FAQs</a:t>
            </a:r>
            <a:r>
              <a:rPr dirty="0" sz="3100" spc="-145">
                <a:solidFill>
                  <a:srgbClr val="3F3F3F"/>
                </a:solidFill>
              </a:rPr>
              <a:t> </a:t>
            </a:r>
            <a:r>
              <a:rPr dirty="0" sz="3100" spc="-110">
                <a:solidFill>
                  <a:srgbClr val="3B3B3B"/>
                </a:solidFill>
              </a:rPr>
              <a:t>instantly,</a:t>
            </a:r>
            <a:r>
              <a:rPr dirty="0" sz="3100" spc="-65">
                <a:solidFill>
                  <a:srgbClr val="3B3B3B"/>
                </a:solidFill>
              </a:rPr>
              <a:t> </a:t>
            </a:r>
            <a:r>
              <a:rPr dirty="0" sz="3100" spc="-100">
                <a:solidFill>
                  <a:srgbClr val="3F3F3F"/>
                </a:solidFill>
              </a:rPr>
              <a:t>reducing</a:t>
            </a:r>
            <a:r>
              <a:rPr dirty="0" sz="3100" spc="-75">
                <a:solidFill>
                  <a:srgbClr val="3F3F3F"/>
                </a:solidFill>
              </a:rPr>
              <a:t> </a:t>
            </a:r>
            <a:r>
              <a:rPr dirty="0" sz="3100" spc="-25">
                <a:solidFill>
                  <a:srgbClr val="3F3F3F"/>
                </a:solidFill>
              </a:rPr>
              <a:t>the </a:t>
            </a:r>
            <a:r>
              <a:rPr dirty="0" sz="3100" spc="-140">
                <a:solidFill>
                  <a:srgbClr val="3D3D3D"/>
                </a:solidFill>
              </a:rPr>
              <a:t>need</a:t>
            </a:r>
            <a:r>
              <a:rPr dirty="0" sz="3100" spc="-80">
                <a:solidFill>
                  <a:srgbClr val="3D3D3D"/>
                </a:solidFill>
              </a:rPr>
              <a:t> </a:t>
            </a:r>
            <a:r>
              <a:rPr dirty="0" sz="3100" spc="-110">
                <a:solidFill>
                  <a:srgbClr val="3D3D3D"/>
                </a:solidFill>
              </a:rPr>
              <a:t>for</a:t>
            </a:r>
            <a:r>
              <a:rPr dirty="0" sz="3100" spc="-145">
                <a:solidFill>
                  <a:srgbClr val="3D3D3D"/>
                </a:solidFill>
              </a:rPr>
              <a:t> </a:t>
            </a:r>
            <a:r>
              <a:rPr dirty="0" sz="3100" spc="-204">
                <a:solidFill>
                  <a:srgbClr val="3A3A3A"/>
                </a:solidFill>
              </a:rPr>
              <a:t>human</a:t>
            </a:r>
            <a:r>
              <a:rPr dirty="0" sz="3100" spc="-45">
                <a:solidFill>
                  <a:srgbClr val="3A3A3A"/>
                </a:solidFill>
              </a:rPr>
              <a:t> </a:t>
            </a:r>
            <a:r>
              <a:rPr dirty="0" sz="3100" spc="-10">
                <a:solidFill>
                  <a:srgbClr val="2D2D2D"/>
                </a:solidFill>
              </a:rPr>
              <a:t>agents.</a:t>
            </a:r>
            <a:endParaRPr sz="3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1255371"/>
            <a:ext cx="18076545" cy="3536315"/>
            <a:chOff x="0" y="1255371"/>
            <a:chExt cx="18076545" cy="353631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546" y="1255371"/>
              <a:ext cx="18019423" cy="160974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906582"/>
              <a:ext cx="9266052" cy="1884943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2311516" y="6687330"/>
            <a:ext cx="40005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50">
                <a:solidFill>
                  <a:srgbClr val="F9C68C"/>
                </a:solidFill>
                <a:latin typeface="Calibri"/>
                <a:cs typeface="Calibri"/>
              </a:rPr>
              <a:t>'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685305" y="6687330"/>
            <a:ext cx="151765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25">
                <a:solidFill>
                  <a:srgbClr val="B18559"/>
                </a:solidFill>
                <a:latin typeface="Calibri"/>
                <a:cs typeface="Calibri"/>
              </a:rPr>
              <a:t>t•›</a:t>
            </a:r>
            <a:r>
              <a:rPr dirty="0" sz="550" spc="40">
                <a:solidFill>
                  <a:srgbClr val="B18559"/>
                </a:solidFill>
                <a:latin typeface="Calibri"/>
                <a:cs typeface="Calibri"/>
              </a:rPr>
              <a:t> </a:t>
            </a:r>
            <a:r>
              <a:rPr dirty="0" sz="550" spc="-60">
                <a:solidFill>
                  <a:srgbClr val="B18360"/>
                </a:solidFill>
                <a:latin typeface="Calibri"/>
                <a:cs typeface="Calibri"/>
              </a:rPr>
              <a:t>•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471726" y="7282974"/>
            <a:ext cx="50165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50">
                <a:solidFill>
                  <a:srgbClr val="8A8E9A"/>
                </a:solidFill>
                <a:latin typeface="Calibri"/>
                <a:cs typeface="Calibri"/>
              </a:rPr>
              <a:t>“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96025" y="7795678"/>
            <a:ext cx="44450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50">
                <a:solidFill>
                  <a:srgbClr val="444444"/>
                </a:solidFill>
                <a:latin typeface="Calibri"/>
                <a:cs typeface="Calibri"/>
              </a:rPr>
              <a:t>-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428271" y="7795678"/>
            <a:ext cx="309245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>
                <a:solidFill>
                  <a:srgbClr val="111111"/>
                </a:solidFill>
                <a:latin typeface="Calibri"/>
                <a:cs typeface="Calibri"/>
              </a:rPr>
              <a:t>¥</a:t>
            </a:r>
            <a:r>
              <a:rPr dirty="0" sz="550" spc="285">
                <a:solidFill>
                  <a:srgbClr val="111111"/>
                </a:solidFill>
                <a:latin typeface="Calibri"/>
                <a:cs typeface="Calibri"/>
              </a:rPr>
              <a:t>  </a:t>
            </a:r>
            <a:r>
              <a:rPr dirty="0" sz="550">
                <a:solidFill>
                  <a:srgbClr val="111111"/>
                </a:solidFill>
                <a:latin typeface="Calibri"/>
                <a:cs typeface="Calibri"/>
              </a:rPr>
              <a:t>.</a:t>
            </a:r>
            <a:r>
              <a:rPr dirty="0" sz="550" spc="21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550">
                <a:solidFill>
                  <a:srgbClr val="232323"/>
                </a:solidFill>
                <a:latin typeface="Calibri"/>
                <a:cs typeface="Calibri"/>
              </a:rPr>
              <a:t>.</a:t>
            </a:r>
            <a:r>
              <a:rPr dirty="0" sz="550" spc="195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550" spc="-50">
                <a:solidFill>
                  <a:srgbClr val="181818"/>
                </a:solidFill>
                <a:latin typeface="Calibri"/>
                <a:cs typeface="Calibri"/>
              </a:rPr>
              <a:t>_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449247" y="7795678"/>
            <a:ext cx="38735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50">
                <a:solidFill>
                  <a:srgbClr val="111111"/>
                </a:solidFill>
                <a:latin typeface="Calibri"/>
                <a:cs typeface="Calibri"/>
              </a:rPr>
              <a:t>.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712190" y="7795678"/>
            <a:ext cx="591185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82880" algn="l"/>
              </a:tabLst>
            </a:pPr>
            <a:r>
              <a:rPr dirty="0" sz="550" spc="-50">
                <a:solidFill>
                  <a:srgbClr val="414141"/>
                </a:solidFill>
                <a:latin typeface="Calibri"/>
                <a:cs typeface="Calibri"/>
              </a:rPr>
              <a:t>-</a:t>
            </a:r>
            <a:r>
              <a:rPr dirty="0" sz="550">
                <a:solidFill>
                  <a:srgbClr val="414141"/>
                </a:solidFill>
                <a:latin typeface="Calibri"/>
                <a:cs typeface="Calibri"/>
              </a:rPr>
              <a:t>	</a:t>
            </a:r>
            <a:r>
              <a:rPr dirty="0" sz="550">
                <a:solidFill>
                  <a:srgbClr val="111111"/>
                </a:solidFill>
                <a:latin typeface="Calibri"/>
                <a:cs typeface="Calibri"/>
              </a:rPr>
              <a:t>.</a:t>
            </a:r>
            <a:r>
              <a:rPr dirty="0" sz="550" spc="340">
                <a:solidFill>
                  <a:srgbClr val="111111"/>
                </a:solidFill>
                <a:latin typeface="Calibri"/>
                <a:cs typeface="Calibri"/>
              </a:rPr>
              <a:t>  </a:t>
            </a:r>
            <a:r>
              <a:rPr dirty="0" sz="550">
                <a:solidFill>
                  <a:srgbClr val="464646"/>
                </a:solidFill>
                <a:latin typeface="Calibri"/>
                <a:cs typeface="Calibri"/>
              </a:rPr>
              <a:t>-</a:t>
            </a:r>
            <a:r>
              <a:rPr dirty="0" sz="550" spc="315">
                <a:solidFill>
                  <a:srgbClr val="464646"/>
                </a:solidFill>
                <a:latin typeface="Calibri"/>
                <a:cs typeface="Calibri"/>
              </a:rPr>
              <a:t>  </a:t>
            </a:r>
            <a:r>
              <a:rPr dirty="0" sz="550">
                <a:solidFill>
                  <a:srgbClr val="2B2B2B"/>
                </a:solidFill>
                <a:latin typeface="Calibri"/>
                <a:cs typeface="Calibri"/>
              </a:rPr>
              <a:t>.</a:t>
            </a:r>
            <a:r>
              <a:rPr dirty="0" sz="550" spc="229">
                <a:solidFill>
                  <a:srgbClr val="2B2B2B"/>
                </a:solidFill>
                <a:latin typeface="Calibri"/>
                <a:cs typeface="Calibri"/>
              </a:rPr>
              <a:t>  </a:t>
            </a:r>
            <a:r>
              <a:rPr dirty="0" sz="550" spc="-50">
                <a:solidFill>
                  <a:srgbClr val="444444"/>
                </a:solidFill>
                <a:latin typeface="Calibri"/>
                <a:cs typeface="Calibri"/>
              </a:rPr>
              <a:t>-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08791" y="8361161"/>
            <a:ext cx="560070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66370" algn="l"/>
                <a:tab pos="515620" algn="l"/>
              </a:tabLst>
            </a:pPr>
            <a:r>
              <a:rPr dirty="0" sz="550" spc="-50">
                <a:solidFill>
                  <a:srgbClr val="111111"/>
                </a:solidFill>
                <a:latin typeface="Calibri"/>
                <a:cs typeface="Calibri"/>
              </a:rPr>
              <a:t>“</a:t>
            </a:r>
            <a:r>
              <a:rPr dirty="0" sz="550">
                <a:solidFill>
                  <a:srgbClr val="111111"/>
                </a:solidFill>
                <a:latin typeface="Calibri"/>
                <a:cs typeface="Calibri"/>
              </a:rPr>
              <a:t>	4</a:t>
            </a:r>
            <a:r>
              <a:rPr dirty="0" sz="550" spc="330">
                <a:solidFill>
                  <a:srgbClr val="111111"/>
                </a:solidFill>
                <a:latin typeface="Calibri"/>
                <a:cs typeface="Calibri"/>
              </a:rPr>
              <a:t>  </a:t>
            </a:r>
            <a:r>
              <a:rPr dirty="0" sz="550">
                <a:solidFill>
                  <a:srgbClr val="111111"/>
                </a:solidFill>
                <a:latin typeface="Calibri"/>
                <a:cs typeface="Calibri"/>
              </a:rPr>
              <a:t>e</a:t>
            </a:r>
            <a:r>
              <a:rPr dirty="0" sz="550" spc="1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550" spc="-50">
                <a:solidFill>
                  <a:srgbClr val="151515"/>
                </a:solidFill>
                <a:latin typeface="Calibri"/>
                <a:cs typeface="Calibri"/>
              </a:rPr>
              <a:t>.</a:t>
            </a:r>
            <a:r>
              <a:rPr dirty="0" sz="550">
                <a:solidFill>
                  <a:srgbClr val="151515"/>
                </a:solidFill>
                <a:latin typeface="Calibri"/>
                <a:cs typeface="Calibri"/>
              </a:rPr>
              <a:t>	</a:t>
            </a:r>
            <a:r>
              <a:rPr dirty="0" sz="550" spc="-50">
                <a:solidFill>
                  <a:srgbClr val="111111"/>
                </a:solidFill>
                <a:latin typeface="Calibri"/>
                <a:cs typeface="Calibri"/>
              </a:rPr>
              <a:t>8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314330" y="8361161"/>
            <a:ext cx="133985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>
                <a:solidFill>
                  <a:srgbClr val="111111"/>
                </a:solidFill>
                <a:latin typeface="Calibri"/>
                <a:cs typeface="Calibri"/>
              </a:rPr>
              <a:t>6</a:t>
            </a:r>
            <a:r>
              <a:rPr dirty="0" sz="550" spc="2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550" spc="-50">
                <a:solidFill>
                  <a:srgbClr val="131313"/>
                </a:solidFill>
                <a:latin typeface="Calibri"/>
                <a:cs typeface="Calibri"/>
              </a:rPr>
              <a:t>“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052097" y="8361161"/>
            <a:ext cx="229235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>
                <a:solidFill>
                  <a:srgbClr val="111111"/>
                </a:solidFill>
                <a:latin typeface="Calibri"/>
                <a:cs typeface="Calibri"/>
              </a:rPr>
              <a:t>"</a:t>
            </a:r>
            <a:r>
              <a:rPr dirty="0" sz="550" spc="11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550">
                <a:solidFill>
                  <a:srgbClr val="283A59"/>
                </a:solidFill>
                <a:latin typeface="Calibri"/>
                <a:cs typeface="Calibri"/>
              </a:rPr>
              <a:t>“</a:t>
            </a:r>
            <a:r>
              <a:rPr dirty="0" sz="550" spc="229">
                <a:solidFill>
                  <a:srgbClr val="283A59"/>
                </a:solidFill>
                <a:latin typeface="Calibri"/>
                <a:cs typeface="Calibri"/>
              </a:rPr>
              <a:t>  </a:t>
            </a:r>
            <a:r>
              <a:rPr dirty="0" sz="550" spc="-50">
                <a:solidFill>
                  <a:srgbClr val="111111"/>
                </a:solidFill>
                <a:latin typeface="Calibri"/>
                <a:cs typeface="Calibri"/>
              </a:rPr>
              <a:t>“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423121" y="8361161"/>
            <a:ext cx="62230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50">
                <a:solidFill>
                  <a:srgbClr val="111111"/>
                </a:solidFill>
                <a:latin typeface="Calibri"/>
                <a:cs typeface="Calibri"/>
              </a:rPr>
              <a:t>e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598297" y="8361161"/>
            <a:ext cx="173990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>
                <a:solidFill>
                  <a:srgbClr val="161616"/>
                </a:solidFill>
                <a:latin typeface="Calibri"/>
                <a:cs typeface="Calibri"/>
              </a:rPr>
              <a:t>.</a:t>
            </a:r>
            <a:r>
              <a:rPr dirty="0" sz="550" spc="254">
                <a:solidFill>
                  <a:srgbClr val="161616"/>
                </a:solidFill>
                <a:latin typeface="Calibri"/>
                <a:cs typeface="Calibri"/>
              </a:rPr>
              <a:t>  </a:t>
            </a:r>
            <a:r>
              <a:rPr dirty="0" sz="550" spc="-50">
                <a:solidFill>
                  <a:srgbClr val="111111"/>
                </a:solidFill>
                <a:latin typeface="Calibri"/>
                <a:cs typeface="Calibri"/>
              </a:rPr>
              <a:t>d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923014" y="8361161"/>
            <a:ext cx="694690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5600" algn="l"/>
                <a:tab pos="656590" algn="l"/>
              </a:tabLst>
            </a:pPr>
            <a:r>
              <a:rPr dirty="0" sz="550">
                <a:solidFill>
                  <a:srgbClr val="283857"/>
                </a:solidFill>
                <a:latin typeface="Calibri"/>
                <a:cs typeface="Calibri"/>
              </a:rPr>
              <a:t>“</a:t>
            </a:r>
            <a:r>
              <a:rPr dirty="0" sz="550" spc="70">
                <a:solidFill>
                  <a:srgbClr val="283857"/>
                </a:solidFill>
                <a:latin typeface="Calibri"/>
                <a:cs typeface="Calibri"/>
              </a:rPr>
              <a:t> </a:t>
            </a:r>
            <a:r>
              <a:rPr dirty="0" sz="550">
                <a:solidFill>
                  <a:srgbClr val="111111"/>
                </a:solidFill>
                <a:latin typeface="Calibri"/>
                <a:cs typeface="Calibri"/>
              </a:rPr>
              <a:t>“</a:t>
            </a:r>
            <a:r>
              <a:rPr dirty="0" sz="550" spc="254">
                <a:solidFill>
                  <a:srgbClr val="111111"/>
                </a:solidFill>
                <a:latin typeface="Calibri"/>
                <a:cs typeface="Calibri"/>
              </a:rPr>
              <a:t>  </a:t>
            </a:r>
            <a:r>
              <a:rPr dirty="0" sz="550" spc="-50">
                <a:solidFill>
                  <a:srgbClr val="111111"/>
                </a:solidFill>
                <a:latin typeface="Calibri"/>
                <a:cs typeface="Calibri"/>
              </a:rPr>
              <a:t>8</a:t>
            </a:r>
            <a:r>
              <a:rPr dirty="0" sz="550">
                <a:solidFill>
                  <a:srgbClr val="111111"/>
                </a:solidFill>
                <a:latin typeface="Calibri"/>
                <a:cs typeface="Calibri"/>
              </a:rPr>
              <a:t>	“</a:t>
            </a:r>
            <a:r>
              <a:rPr dirty="0" sz="550" spc="310">
                <a:solidFill>
                  <a:srgbClr val="111111"/>
                </a:solidFill>
                <a:latin typeface="Calibri"/>
                <a:cs typeface="Calibri"/>
              </a:rPr>
              <a:t>  </a:t>
            </a:r>
            <a:r>
              <a:rPr dirty="0" sz="550" spc="-50">
                <a:solidFill>
                  <a:srgbClr val="111111"/>
                </a:solidFill>
                <a:latin typeface="Calibri"/>
                <a:cs typeface="Calibri"/>
              </a:rPr>
              <a:t>“</a:t>
            </a:r>
            <a:r>
              <a:rPr dirty="0" sz="550">
                <a:solidFill>
                  <a:srgbClr val="111111"/>
                </a:solidFill>
                <a:latin typeface="Calibri"/>
                <a:cs typeface="Calibri"/>
              </a:rPr>
              <a:t>	</a:t>
            </a:r>
            <a:r>
              <a:rPr dirty="0" sz="550" spc="-50">
                <a:solidFill>
                  <a:srgbClr val="111111"/>
                </a:solidFill>
                <a:latin typeface="Calibri"/>
                <a:cs typeface="Calibri"/>
              </a:rPr>
              <a:t>"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449660" y="8361161"/>
            <a:ext cx="1563370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69570" algn="l"/>
                <a:tab pos="815340" algn="l"/>
              </a:tabLst>
            </a:pPr>
            <a:r>
              <a:rPr dirty="0" sz="550">
                <a:solidFill>
                  <a:srgbClr val="111111"/>
                </a:solidFill>
                <a:latin typeface="Calibri"/>
                <a:cs typeface="Calibri"/>
              </a:rPr>
              <a:t>"</a:t>
            </a:r>
            <a:r>
              <a:rPr dirty="0" sz="550" spc="42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550">
                <a:solidFill>
                  <a:srgbClr val="111111"/>
                </a:solidFill>
                <a:latin typeface="Calibri"/>
                <a:cs typeface="Calibri"/>
              </a:rPr>
              <a:t>e</a:t>
            </a:r>
            <a:r>
              <a:rPr dirty="0" sz="550" spc="26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550" spc="-50">
                <a:solidFill>
                  <a:srgbClr val="131313"/>
                </a:solidFill>
                <a:latin typeface="Calibri"/>
                <a:cs typeface="Calibri"/>
              </a:rPr>
              <a:t>-</a:t>
            </a:r>
            <a:r>
              <a:rPr dirty="0" sz="550">
                <a:solidFill>
                  <a:srgbClr val="131313"/>
                </a:solidFill>
                <a:latin typeface="Calibri"/>
                <a:cs typeface="Calibri"/>
              </a:rPr>
              <a:t>	</a:t>
            </a:r>
            <a:r>
              <a:rPr dirty="0" sz="550">
                <a:solidFill>
                  <a:srgbClr val="111111"/>
                </a:solidFill>
                <a:latin typeface="Calibri"/>
                <a:cs typeface="Calibri"/>
              </a:rPr>
              <a:t>4</a:t>
            </a:r>
            <a:r>
              <a:rPr dirty="0" sz="550" spc="49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550">
                <a:solidFill>
                  <a:srgbClr val="111111"/>
                </a:solidFill>
                <a:latin typeface="Calibri"/>
                <a:cs typeface="Calibri"/>
              </a:rPr>
              <a:t>.</a:t>
            </a:r>
            <a:r>
              <a:rPr dirty="0" sz="550" spc="320">
                <a:solidFill>
                  <a:srgbClr val="111111"/>
                </a:solidFill>
                <a:latin typeface="Calibri"/>
                <a:cs typeface="Calibri"/>
              </a:rPr>
              <a:t>  </a:t>
            </a:r>
            <a:r>
              <a:rPr dirty="0" sz="550">
                <a:solidFill>
                  <a:srgbClr val="111111"/>
                </a:solidFill>
                <a:latin typeface="Calibri"/>
                <a:cs typeface="Calibri"/>
              </a:rPr>
              <a:t>“</a:t>
            </a:r>
            <a:r>
              <a:rPr dirty="0" sz="550" spc="7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550" spc="-50">
                <a:solidFill>
                  <a:srgbClr val="131313"/>
                </a:solidFill>
                <a:latin typeface="Calibri"/>
                <a:cs typeface="Calibri"/>
              </a:rPr>
              <a:t>.</a:t>
            </a:r>
            <a:r>
              <a:rPr dirty="0" sz="550">
                <a:solidFill>
                  <a:srgbClr val="131313"/>
                </a:solidFill>
                <a:latin typeface="Calibri"/>
                <a:cs typeface="Calibri"/>
              </a:rPr>
              <a:t>	“</a:t>
            </a:r>
            <a:r>
              <a:rPr dirty="0" sz="550" spc="229">
                <a:solidFill>
                  <a:srgbClr val="131313"/>
                </a:solidFill>
                <a:latin typeface="Calibri"/>
                <a:cs typeface="Calibri"/>
              </a:rPr>
              <a:t>  </a:t>
            </a:r>
            <a:r>
              <a:rPr dirty="0" sz="550">
                <a:solidFill>
                  <a:srgbClr val="111111"/>
                </a:solidFill>
                <a:latin typeface="Calibri"/>
                <a:cs typeface="Calibri"/>
              </a:rPr>
              <a:t>e</a:t>
            </a:r>
            <a:r>
              <a:rPr dirty="0" sz="550" spc="220">
                <a:solidFill>
                  <a:srgbClr val="111111"/>
                </a:solidFill>
                <a:latin typeface="Calibri"/>
                <a:cs typeface="Calibri"/>
              </a:rPr>
              <a:t>  </a:t>
            </a:r>
            <a:r>
              <a:rPr dirty="0" sz="550">
                <a:solidFill>
                  <a:srgbClr val="111111"/>
                </a:solidFill>
                <a:latin typeface="Calibri"/>
                <a:cs typeface="Calibri"/>
              </a:rPr>
              <a:t>”</a:t>
            </a:r>
            <a:r>
              <a:rPr dirty="0" sz="550" spc="270">
                <a:solidFill>
                  <a:srgbClr val="111111"/>
                </a:solidFill>
                <a:latin typeface="Calibri"/>
                <a:cs typeface="Calibri"/>
              </a:rPr>
              <a:t>  </a:t>
            </a:r>
            <a:r>
              <a:rPr dirty="0" sz="550">
                <a:solidFill>
                  <a:srgbClr val="131313"/>
                </a:solidFill>
                <a:latin typeface="Calibri"/>
                <a:cs typeface="Calibri"/>
              </a:rPr>
              <a:t>.</a:t>
            </a:r>
            <a:r>
              <a:rPr dirty="0" sz="550" spc="190">
                <a:solidFill>
                  <a:srgbClr val="131313"/>
                </a:solidFill>
                <a:latin typeface="Calibri"/>
                <a:cs typeface="Calibri"/>
              </a:rPr>
              <a:t>  </a:t>
            </a:r>
            <a:r>
              <a:rPr dirty="0" sz="550">
                <a:solidFill>
                  <a:srgbClr val="111111"/>
                </a:solidFill>
                <a:latin typeface="Calibri"/>
                <a:cs typeface="Calibri"/>
              </a:rPr>
              <a:t>“</a:t>
            </a:r>
            <a:r>
              <a:rPr dirty="0" sz="550" spc="200">
                <a:solidFill>
                  <a:srgbClr val="111111"/>
                </a:solidFill>
                <a:latin typeface="Calibri"/>
                <a:cs typeface="Calibri"/>
              </a:rPr>
              <a:t>  </a:t>
            </a:r>
            <a:r>
              <a:rPr dirty="0" sz="550">
                <a:solidFill>
                  <a:srgbClr val="111111"/>
                </a:solidFill>
                <a:latin typeface="Calibri"/>
                <a:cs typeface="Calibri"/>
              </a:rPr>
              <a:t>8</a:t>
            </a:r>
            <a:r>
              <a:rPr dirty="0" sz="550" spc="225">
                <a:solidFill>
                  <a:srgbClr val="111111"/>
                </a:solidFill>
                <a:latin typeface="Calibri"/>
                <a:cs typeface="Calibri"/>
              </a:rPr>
              <a:t>  </a:t>
            </a:r>
            <a:r>
              <a:rPr dirty="0" sz="550" spc="-50">
                <a:solidFill>
                  <a:srgbClr val="111111"/>
                </a:solidFill>
                <a:latin typeface="Calibri"/>
                <a:cs typeface="Calibri"/>
              </a:rPr>
              <a:t>e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198930" y="8361161"/>
            <a:ext cx="52069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50">
                <a:solidFill>
                  <a:srgbClr val="111111"/>
                </a:solidFill>
                <a:latin typeface="Calibri"/>
                <a:cs typeface="Calibri"/>
              </a:rPr>
              <a:t>“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140708" y="8696681"/>
            <a:ext cx="294640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8580" indent="-55880">
              <a:lnSpc>
                <a:spcPct val="100000"/>
              </a:lnSpc>
              <a:spcBef>
                <a:spcPts val="105"/>
              </a:spcBef>
              <a:buClr>
                <a:srgbClr val="213F69"/>
              </a:buClr>
              <a:buChar char="•"/>
              <a:tabLst>
                <a:tab pos="68580" algn="l"/>
              </a:tabLst>
            </a:pPr>
            <a:r>
              <a:rPr dirty="0" sz="550">
                <a:solidFill>
                  <a:srgbClr val="181818"/>
                </a:solidFill>
                <a:latin typeface="Calibri"/>
                <a:cs typeface="Calibri"/>
              </a:rPr>
              <a:t>a</a:t>
            </a:r>
            <a:r>
              <a:rPr dirty="0" sz="550" spc="8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550">
                <a:solidFill>
                  <a:srgbClr val="181818"/>
                </a:solidFill>
                <a:latin typeface="Calibri"/>
                <a:cs typeface="Calibri"/>
              </a:rPr>
              <a:t>a</a:t>
            </a:r>
            <a:r>
              <a:rPr dirty="0" sz="550" spc="204">
                <a:solidFill>
                  <a:srgbClr val="181818"/>
                </a:solidFill>
                <a:latin typeface="Calibri"/>
                <a:cs typeface="Calibri"/>
              </a:rPr>
              <a:t>  </a:t>
            </a:r>
            <a:r>
              <a:rPr dirty="0" sz="550" spc="-50">
                <a:solidFill>
                  <a:srgbClr val="181818"/>
                </a:solidFill>
                <a:latin typeface="Calibri"/>
                <a:cs typeface="Calibri"/>
              </a:rPr>
              <a:t>o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539473" y="8696681"/>
            <a:ext cx="289560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20">
                <a:solidFill>
                  <a:srgbClr val="182A4B"/>
                </a:solidFill>
                <a:latin typeface="Calibri"/>
                <a:cs typeface="Calibri"/>
              </a:rPr>
              <a:t>*</a:t>
            </a:r>
            <a:r>
              <a:rPr dirty="0" sz="550" spc="105">
                <a:solidFill>
                  <a:srgbClr val="182A4B"/>
                </a:solidFill>
                <a:latin typeface="Calibri"/>
                <a:cs typeface="Calibri"/>
              </a:rPr>
              <a:t> </a:t>
            </a:r>
            <a:r>
              <a:rPr dirty="0" sz="550">
                <a:solidFill>
                  <a:srgbClr val="181818"/>
                </a:solidFill>
                <a:latin typeface="Calibri"/>
                <a:cs typeface="Calibri"/>
              </a:rPr>
              <a:t>e</a:t>
            </a:r>
            <a:r>
              <a:rPr dirty="0" sz="550" spc="7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550">
                <a:solidFill>
                  <a:srgbClr val="181818"/>
                </a:solidFill>
                <a:latin typeface="Calibri"/>
                <a:cs typeface="Calibri"/>
              </a:rPr>
              <a:t>e</a:t>
            </a:r>
            <a:r>
              <a:rPr dirty="0" sz="550" spc="465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550" spc="-50">
                <a:solidFill>
                  <a:srgbClr val="181818"/>
                </a:solidFill>
                <a:latin typeface="Calibri"/>
                <a:cs typeface="Calibri"/>
              </a:rPr>
              <a:t>e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3117799" y="10053839"/>
            <a:ext cx="61594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50">
                <a:solidFill>
                  <a:srgbClr val="2A8CE2"/>
                </a:solidFill>
                <a:latin typeface="Calibri"/>
                <a:cs typeface="Calibri"/>
              </a:rPr>
              <a:t>E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10984484" y="5180319"/>
            <a:ext cx="2296160" cy="4216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600" spc="-30">
                <a:solidFill>
                  <a:srgbClr val="212121"/>
                </a:solidFill>
              </a:rPr>
              <a:t>Sleek</a:t>
            </a:r>
            <a:r>
              <a:rPr dirty="0" sz="2600" spc="-65">
                <a:solidFill>
                  <a:srgbClr val="212121"/>
                </a:solidFill>
              </a:rPr>
              <a:t> </a:t>
            </a:r>
            <a:r>
              <a:rPr dirty="0" sz="2600" spc="-395">
                <a:solidFill>
                  <a:srgbClr val="131313"/>
                </a:solidFill>
              </a:rPr>
              <a:t>tâf</a:t>
            </a:r>
            <a:r>
              <a:rPr dirty="0" sz="2600" spc="145">
                <a:solidFill>
                  <a:srgbClr val="131313"/>
                </a:solidFill>
              </a:rPr>
              <a:t> </a:t>
            </a:r>
            <a:r>
              <a:rPr dirty="0" sz="2600" spc="-40">
                <a:solidFill>
                  <a:srgbClr val="212121"/>
                </a:solidFill>
              </a:rPr>
              <a:t>Intuitive</a:t>
            </a:r>
            <a:endParaRPr sz="2600"/>
          </a:p>
        </p:txBody>
      </p:sp>
      <p:sp>
        <p:nvSpPr>
          <p:cNvPr id="24" name="object 24" descr=""/>
          <p:cNvSpPr txBox="1"/>
          <p:nvPr/>
        </p:nvSpPr>
        <p:spPr>
          <a:xfrm>
            <a:off x="10982387" y="5914346"/>
            <a:ext cx="7853045" cy="809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540">
              <a:lnSpc>
                <a:spcPct val="114300"/>
              </a:lnSpc>
              <a:spcBef>
                <a:spcPts val="100"/>
              </a:spcBef>
            </a:pPr>
            <a:r>
              <a:rPr dirty="0" sz="2250" spc="-90">
                <a:solidFill>
                  <a:srgbClr val="343434"/>
                </a:solidFill>
                <a:latin typeface="Calibri"/>
                <a:cs typeface="Calibri"/>
              </a:rPr>
              <a:t>The</a:t>
            </a:r>
            <a:r>
              <a:rPr dirty="0" sz="2250" spc="-85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250" spc="-80">
                <a:solidFill>
                  <a:srgbClr val="383838"/>
                </a:solidFill>
                <a:latin typeface="Calibri"/>
                <a:cs typeface="Calibri"/>
              </a:rPr>
              <a:t>application</a:t>
            </a:r>
            <a:r>
              <a:rPr dirty="0" sz="2250" spc="-3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250" spc="-90">
                <a:solidFill>
                  <a:srgbClr val="333333"/>
                </a:solidFill>
                <a:latin typeface="Calibri"/>
                <a:cs typeface="Calibri"/>
              </a:rPr>
              <a:t>demonstrates</a:t>
            </a:r>
            <a:r>
              <a:rPr dirty="0" sz="2250" spc="-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2250" spc="-114">
                <a:solidFill>
                  <a:srgbClr val="383838"/>
                </a:solidFill>
                <a:latin typeface="Calibri"/>
                <a:cs typeface="Calibri"/>
              </a:rPr>
              <a:t>modern</a:t>
            </a:r>
            <a:r>
              <a:rPr dirty="0" sz="225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250" spc="-155">
                <a:solidFill>
                  <a:srgbClr val="383838"/>
                </a:solidFill>
                <a:latin typeface="Calibri"/>
                <a:cs typeface="Calibri"/>
              </a:rPr>
              <a:t>web</a:t>
            </a:r>
            <a:r>
              <a:rPr dirty="0" sz="2250" spc="-13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250" spc="-100">
                <a:solidFill>
                  <a:srgbClr val="343434"/>
                </a:solidFill>
                <a:latin typeface="Calibri"/>
                <a:cs typeface="Calibri"/>
              </a:rPr>
              <a:t>development</a:t>
            </a:r>
            <a:r>
              <a:rPr dirty="0" sz="2250" spc="4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250" spc="-85">
                <a:solidFill>
                  <a:srgbClr val="343434"/>
                </a:solidFill>
                <a:latin typeface="Calibri"/>
                <a:cs typeface="Calibri"/>
              </a:rPr>
              <a:t>practices</a:t>
            </a:r>
            <a:r>
              <a:rPr dirty="0" sz="2250" spc="-45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250" spc="-60">
                <a:solidFill>
                  <a:srgbClr val="3B3B3B"/>
                </a:solidFill>
                <a:latin typeface="Calibri"/>
                <a:cs typeface="Calibri"/>
              </a:rPr>
              <a:t>with</a:t>
            </a:r>
            <a:r>
              <a:rPr dirty="0" sz="2250" spc="-35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2250" spc="-50">
                <a:solidFill>
                  <a:srgbClr val="57343B"/>
                </a:solidFill>
                <a:latin typeface="Calibri"/>
                <a:cs typeface="Calibri"/>
              </a:rPr>
              <a:t>a </a:t>
            </a:r>
            <a:r>
              <a:rPr dirty="0" sz="2250" spc="-110">
                <a:solidFill>
                  <a:srgbClr val="3D3D3D"/>
                </a:solidFill>
                <a:latin typeface="Calibri"/>
                <a:cs typeface="Calibri"/>
              </a:rPr>
              <a:t>clean,</a:t>
            </a:r>
            <a:r>
              <a:rPr dirty="0" sz="2250" spc="-15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2250" spc="-75">
                <a:solidFill>
                  <a:srgbClr val="464646"/>
                </a:solidFill>
                <a:latin typeface="Calibri"/>
                <a:cs typeface="Calibri"/>
              </a:rPr>
              <a:t>minimalist</a:t>
            </a:r>
            <a:r>
              <a:rPr dirty="0" sz="225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250" spc="-10">
                <a:solidFill>
                  <a:srgbClr val="343434"/>
                </a:solidFill>
                <a:latin typeface="Calibri"/>
                <a:cs typeface="Calibri"/>
              </a:rPr>
              <a:t>aesthetic.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0982269" y="7203649"/>
            <a:ext cx="7712075" cy="840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810">
              <a:lnSpc>
                <a:spcPct val="118700"/>
              </a:lnSpc>
              <a:spcBef>
                <a:spcPts val="100"/>
              </a:spcBef>
            </a:pPr>
            <a:r>
              <a:rPr dirty="0" sz="2250" spc="-65">
                <a:solidFill>
                  <a:srgbClr val="3F3F3F"/>
                </a:solidFill>
                <a:latin typeface="Calibri"/>
                <a:cs typeface="Calibri"/>
              </a:rPr>
              <a:t>Users </a:t>
            </a:r>
            <a:r>
              <a:rPr dirty="0" sz="2250" spc="-95">
                <a:solidFill>
                  <a:srgbClr val="333333"/>
                </a:solidFill>
                <a:latin typeface="Calibri"/>
                <a:cs typeface="Calibri"/>
              </a:rPr>
              <a:t>can</a:t>
            </a:r>
            <a:r>
              <a:rPr dirty="0" sz="2250" spc="-16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2250" spc="-90">
                <a:solidFill>
                  <a:srgbClr val="3D3D3D"/>
                </a:solidFill>
                <a:latin typeface="Calibri"/>
                <a:cs typeface="Calibri"/>
              </a:rPr>
              <a:t>browse</a:t>
            </a:r>
            <a:r>
              <a:rPr dirty="0" sz="2250" spc="-125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2250" spc="-75">
                <a:solidFill>
                  <a:srgbClr val="3A3A3A"/>
                </a:solidFill>
                <a:latin typeface="Calibri"/>
                <a:cs typeface="Calibri"/>
              </a:rPr>
              <a:t>collections,</a:t>
            </a:r>
            <a:r>
              <a:rPr dirty="0" sz="2250" spc="4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2250" spc="-70">
                <a:solidFill>
                  <a:srgbClr val="363636"/>
                </a:solidFill>
                <a:latin typeface="Calibri"/>
                <a:cs typeface="Calibri"/>
              </a:rPr>
              <a:t>filter</a:t>
            </a:r>
            <a:r>
              <a:rPr dirty="0" sz="2250" spc="-10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250" spc="-114">
                <a:solidFill>
                  <a:srgbClr val="343434"/>
                </a:solidFill>
                <a:latin typeface="Calibri"/>
                <a:cs typeface="Calibri"/>
              </a:rPr>
              <a:t>items,</a:t>
            </a:r>
            <a:r>
              <a:rPr dirty="0" sz="2250" spc="-5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250" spc="-13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dirty="0" sz="2250" spc="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2250" spc="-95">
                <a:solidFill>
                  <a:srgbClr val="383838"/>
                </a:solidFill>
                <a:latin typeface="Calibri"/>
                <a:cs typeface="Calibri"/>
              </a:rPr>
              <a:t>access</a:t>
            </a:r>
            <a:r>
              <a:rPr dirty="0" sz="2250" spc="7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250" spc="-105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dirty="0" sz="2250" spc="-16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2250" spc="-75">
                <a:solidFill>
                  <a:srgbClr val="3B3B3B"/>
                </a:solidFill>
                <a:latin typeface="Calibri"/>
                <a:cs typeface="Calibri"/>
              </a:rPr>
              <a:t>chatbot</a:t>
            </a:r>
            <a:r>
              <a:rPr dirty="0" sz="2250" spc="-1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2250" spc="-50">
                <a:solidFill>
                  <a:srgbClr val="333333"/>
                </a:solidFill>
                <a:latin typeface="Calibri"/>
                <a:cs typeface="Calibri"/>
              </a:rPr>
              <a:t>widget </a:t>
            </a:r>
            <a:r>
              <a:rPr dirty="0" sz="2250" spc="-110">
                <a:solidFill>
                  <a:srgbClr val="3D3D3D"/>
                </a:solidFill>
                <a:latin typeface="Calibri"/>
                <a:cs typeface="Calibri"/>
              </a:rPr>
              <a:t>from</a:t>
            </a:r>
            <a:r>
              <a:rPr dirty="0" sz="2250" spc="-6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2250" spc="-100">
                <a:solidFill>
                  <a:srgbClr val="424242"/>
                </a:solidFill>
                <a:latin typeface="Calibri"/>
                <a:cs typeface="Calibri"/>
              </a:rPr>
              <a:t>any</a:t>
            </a:r>
            <a:r>
              <a:rPr dirty="0" sz="2250" spc="-16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2250" spc="-120">
                <a:solidFill>
                  <a:srgbClr val="3B3B3B"/>
                </a:solidFill>
                <a:latin typeface="Calibri"/>
                <a:cs typeface="Calibri"/>
              </a:rPr>
              <a:t>page, </a:t>
            </a:r>
            <a:r>
              <a:rPr dirty="0" sz="2250" spc="-70">
                <a:solidFill>
                  <a:srgbClr val="363636"/>
                </a:solidFill>
                <a:latin typeface="Calibri"/>
                <a:cs typeface="Calibri"/>
              </a:rPr>
              <a:t>ensuring</a:t>
            </a:r>
            <a:r>
              <a:rPr dirty="0" sz="2250" spc="-2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250" spc="-80">
                <a:solidFill>
                  <a:srgbClr val="313131"/>
                </a:solidFill>
                <a:latin typeface="Calibri"/>
                <a:cs typeface="Calibri"/>
              </a:rPr>
              <a:t>support</a:t>
            </a:r>
            <a:r>
              <a:rPr dirty="0" sz="2250" spc="25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2250" spc="-30">
                <a:solidFill>
                  <a:srgbClr val="343434"/>
                </a:solidFill>
                <a:latin typeface="Calibri"/>
                <a:cs typeface="Calibri"/>
              </a:rPr>
              <a:t>is</a:t>
            </a:r>
            <a:r>
              <a:rPr dirty="0" sz="2250" spc="-75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250" spc="-95">
                <a:solidFill>
                  <a:srgbClr val="3F3F3F"/>
                </a:solidFill>
                <a:latin typeface="Calibri"/>
                <a:cs typeface="Calibri"/>
              </a:rPr>
              <a:t>always</a:t>
            </a:r>
            <a:r>
              <a:rPr dirty="0" sz="225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2250" spc="-114">
                <a:solidFill>
                  <a:srgbClr val="484848"/>
                </a:solidFill>
                <a:latin typeface="Calibri"/>
                <a:cs typeface="Calibri"/>
              </a:rPr>
              <a:t>one</a:t>
            </a:r>
            <a:r>
              <a:rPr dirty="0" sz="2250" spc="-135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2250" spc="-55">
                <a:solidFill>
                  <a:srgbClr val="383838"/>
                </a:solidFill>
                <a:latin typeface="Calibri"/>
                <a:cs typeface="Calibri"/>
              </a:rPr>
              <a:t>click</a:t>
            </a:r>
            <a:r>
              <a:rPr dirty="0" sz="2250" spc="-11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250" spc="-10">
                <a:solidFill>
                  <a:srgbClr val="3F3F3F"/>
                </a:solidFill>
                <a:latin typeface="Calibri"/>
                <a:cs typeface="Calibri"/>
              </a:rPr>
              <a:t>away.</a:t>
            </a:r>
            <a:endParaRPr sz="2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6059718" y="5972914"/>
            <a:ext cx="730885" cy="0"/>
          </a:xfrm>
          <a:custGeom>
            <a:avLst/>
            <a:gdLst/>
            <a:ahLst/>
            <a:cxnLst/>
            <a:rect l="l" t="t" r="r" b="b"/>
            <a:pathLst>
              <a:path w="730884" h="0">
                <a:moveTo>
                  <a:pt x="0" y="0"/>
                </a:moveTo>
                <a:lnTo>
                  <a:pt x="730344" y="0"/>
                </a:lnTo>
              </a:path>
            </a:pathLst>
          </a:custGeom>
          <a:ln w="39269">
            <a:solidFill>
              <a:srgbClr val="876B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24581" y="2305128"/>
            <a:ext cx="18517870" cy="0"/>
          </a:xfrm>
          <a:custGeom>
            <a:avLst/>
            <a:gdLst/>
            <a:ahLst/>
            <a:cxnLst/>
            <a:rect l="l" t="t" r="r" b="b"/>
            <a:pathLst>
              <a:path w="18517870" h="0">
                <a:moveTo>
                  <a:pt x="0" y="0"/>
                </a:moveTo>
                <a:lnTo>
                  <a:pt x="18517762" y="0"/>
                </a:lnTo>
              </a:path>
            </a:pathLst>
          </a:custGeom>
          <a:ln w="235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02091" y="-15708"/>
            <a:ext cx="12997180" cy="110489"/>
            <a:chOff x="102091" y="-15708"/>
            <a:chExt cx="12997180" cy="110489"/>
          </a:xfrm>
        </p:grpSpPr>
        <p:sp>
          <p:nvSpPr>
            <p:cNvPr id="5" name="object 5" descr=""/>
            <p:cNvSpPr/>
            <p:nvPr/>
          </p:nvSpPr>
          <p:spPr>
            <a:xfrm>
              <a:off x="102091" y="74611"/>
              <a:ext cx="12997180" cy="0"/>
            </a:xfrm>
            <a:custGeom>
              <a:avLst/>
              <a:gdLst/>
              <a:ahLst/>
              <a:cxnLst/>
              <a:rect l="l" t="t" r="r" b="b"/>
              <a:pathLst>
                <a:path w="12997180" h="0">
                  <a:moveTo>
                    <a:pt x="0" y="0"/>
                  </a:moveTo>
                  <a:lnTo>
                    <a:pt x="12996987" y="0"/>
                  </a:lnTo>
                </a:path>
              </a:pathLst>
            </a:custGeom>
            <a:ln w="39269">
              <a:solidFill>
                <a:srgbClr val="77574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25650" y="3926"/>
              <a:ext cx="12847955" cy="0"/>
            </a:xfrm>
            <a:custGeom>
              <a:avLst/>
              <a:gdLst/>
              <a:ahLst/>
              <a:cxnLst/>
              <a:rect l="l" t="t" r="r" b="b"/>
              <a:pathLst>
                <a:path w="12847955" h="0">
                  <a:moveTo>
                    <a:pt x="0" y="0"/>
                  </a:moveTo>
                  <a:lnTo>
                    <a:pt x="12847777" y="0"/>
                  </a:lnTo>
                </a:path>
              </a:pathLst>
            </a:custGeom>
            <a:ln w="39269">
              <a:solidFill>
                <a:srgbClr val="77574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60"/>
              <a:t>Project</a:t>
            </a:r>
            <a:r>
              <a:rPr dirty="0" spc="114"/>
              <a:t> </a:t>
            </a:r>
            <a:r>
              <a:rPr dirty="0" spc="-85"/>
              <a:t>Goals:</a:t>
            </a:r>
            <a:r>
              <a:rPr dirty="0" spc="-80"/>
              <a:t> </a:t>
            </a:r>
            <a:r>
              <a:rPr dirty="0">
                <a:solidFill>
                  <a:srgbClr val="2A2A2A"/>
                </a:solidFill>
              </a:rPr>
              <a:t>Sok</a:t>
            </a:r>
            <a:r>
              <a:rPr dirty="0" spc="-55">
                <a:solidFill>
                  <a:srgbClr val="2A2A2A"/>
                </a:solidFill>
              </a:rPr>
              <a:t> </a:t>
            </a:r>
            <a:r>
              <a:rPr dirty="0" spc="-10">
                <a:solidFill>
                  <a:srgbClr val="262626"/>
                </a:solidFill>
              </a:rPr>
              <a:t>Skills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3413697" y="5731142"/>
            <a:ext cx="307975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 spc="-50">
                <a:solidFill>
                  <a:srgbClr val="8C6E62"/>
                </a:solidFill>
                <a:latin typeface="Times New Roman"/>
                <a:cs typeface="Times New Roman"/>
              </a:rPr>
              <a:t>M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377770" y="6634343"/>
            <a:ext cx="2651125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 spc="-10">
                <a:solidFill>
                  <a:srgbClr val="1D1D1D"/>
                </a:solidFill>
                <a:latin typeface="Times New Roman"/>
                <a:cs typeface="Times New Roman"/>
              </a:rPr>
              <a:t>Service</a:t>
            </a:r>
            <a:r>
              <a:rPr dirty="0" sz="2550" spc="-195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dirty="0" sz="2550" spc="-10">
                <a:solidFill>
                  <a:srgbClr val="1A1A1A"/>
                </a:solidFill>
                <a:latin typeface="Times New Roman"/>
                <a:cs typeface="Times New Roman"/>
              </a:rPr>
              <a:t>Automation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392127" y="7295382"/>
            <a:ext cx="4617085" cy="8108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69975" marR="5080" indent="-1057910">
              <a:lnSpc>
                <a:spcPct val="112000"/>
              </a:lnSpc>
              <a:spcBef>
                <a:spcPts val="95"/>
              </a:spcBef>
            </a:pPr>
            <a:r>
              <a:rPr dirty="0" sz="2300" spc="-95">
                <a:solidFill>
                  <a:srgbClr val="313131"/>
                </a:solidFill>
                <a:latin typeface="Calibri"/>
                <a:cs typeface="Calibri"/>
              </a:rPr>
              <a:t>Understanding</a:t>
            </a:r>
            <a:r>
              <a:rPr dirty="0" sz="2300" spc="6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2300" spc="-135">
                <a:solidFill>
                  <a:srgbClr val="444444"/>
                </a:solidFill>
                <a:latin typeface="Calibri"/>
                <a:cs typeface="Calibri"/>
              </a:rPr>
              <a:t>how</a:t>
            </a:r>
            <a:r>
              <a:rPr dirty="0" sz="2300" spc="-8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2300" spc="-100">
                <a:solidFill>
                  <a:srgbClr val="363636"/>
                </a:solidFill>
                <a:latin typeface="Calibri"/>
                <a:cs typeface="Calibri"/>
              </a:rPr>
              <a:t>to</a:t>
            </a:r>
            <a:r>
              <a:rPr dirty="0" sz="2300" spc="-17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300" spc="-140">
                <a:solidFill>
                  <a:srgbClr val="333333"/>
                </a:solidFill>
                <a:latin typeface="Calibri"/>
                <a:cs typeface="Calibri"/>
              </a:rPr>
              <a:t>automate</a:t>
            </a:r>
            <a:r>
              <a:rPr dirty="0" sz="2300" spc="-5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2300" spc="-100">
                <a:solidFill>
                  <a:srgbClr val="313131"/>
                </a:solidFill>
                <a:latin typeface="Calibri"/>
                <a:cs typeface="Calibri"/>
              </a:rPr>
              <a:t>customer </a:t>
            </a:r>
            <a:r>
              <a:rPr dirty="0" sz="2300" spc="-105">
                <a:solidFill>
                  <a:srgbClr val="363636"/>
                </a:solidFill>
                <a:latin typeface="Calibri"/>
                <a:cs typeface="Calibri"/>
              </a:rPr>
              <a:t>interactions</a:t>
            </a:r>
            <a:r>
              <a:rPr dirty="0" sz="2300" spc="7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300" spc="-35">
                <a:solidFill>
                  <a:srgbClr val="242424"/>
                </a:solidFill>
                <a:latin typeface="Calibri"/>
                <a:cs typeface="Calibri"/>
              </a:rPr>
              <a:t>effectively.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918884" y="6642852"/>
            <a:ext cx="225806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55">
                <a:solidFill>
                  <a:srgbClr val="212121"/>
                </a:solidFill>
                <a:latin typeface="Times New Roman"/>
                <a:cs typeface="Times New Roman"/>
              </a:rPr>
              <a:t>Design</a:t>
            </a:r>
            <a:r>
              <a:rPr dirty="0" sz="2450" spc="-7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2450" spc="65">
                <a:solidFill>
                  <a:srgbClr val="212121"/>
                </a:solidFill>
                <a:latin typeface="Times New Roman"/>
                <a:cs typeface="Times New Roman"/>
              </a:rPr>
              <a:t>Thinking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050891" y="7288838"/>
            <a:ext cx="3985260" cy="8108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2570" marR="5080" indent="-230504">
              <a:lnSpc>
                <a:spcPct val="125699"/>
              </a:lnSpc>
              <a:spcBef>
                <a:spcPts val="95"/>
              </a:spcBef>
            </a:pPr>
            <a:r>
              <a:rPr dirty="0" sz="2050">
                <a:solidFill>
                  <a:srgbClr val="343434"/>
                </a:solidFill>
                <a:latin typeface="Times New Roman"/>
                <a:cs typeface="Times New Roman"/>
              </a:rPr>
              <a:t>Creating</a:t>
            </a:r>
            <a:r>
              <a:rPr dirty="0" sz="2050" spc="10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dirty="0" sz="2050">
                <a:solidFill>
                  <a:srgbClr val="343434"/>
                </a:solidFill>
                <a:latin typeface="Times New Roman"/>
                <a:cs typeface="Times New Roman"/>
              </a:rPr>
              <a:t>a</a:t>
            </a:r>
            <a:r>
              <a:rPr dirty="0" sz="2050" spc="225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dirty="0" sz="2050">
                <a:solidFill>
                  <a:srgbClr val="262626"/>
                </a:solidFill>
                <a:latin typeface="Times New Roman"/>
                <a:cs typeface="Times New Roman"/>
              </a:rPr>
              <a:t>user-centric</a:t>
            </a:r>
            <a:r>
              <a:rPr dirty="0" sz="2050" spc="24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2050">
                <a:solidFill>
                  <a:srgbClr val="2D2D2D"/>
                </a:solidFill>
                <a:latin typeface="Times New Roman"/>
                <a:cs typeface="Times New Roman"/>
              </a:rPr>
              <a:t>interface</a:t>
            </a:r>
            <a:r>
              <a:rPr dirty="0" sz="2050" spc="114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dirty="0" sz="2050" spc="55">
                <a:solidFill>
                  <a:srgbClr val="343434"/>
                </a:solidFill>
                <a:latin typeface="Times New Roman"/>
                <a:cs typeface="Times New Roman"/>
              </a:rPr>
              <a:t>that </a:t>
            </a:r>
            <a:r>
              <a:rPr dirty="0" sz="2050">
                <a:solidFill>
                  <a:srgbClr val="343434"/>
                </a:solidFill>
                <a:latin typeface="Times New Roman"/>
                <a:cs typeface="Times New Roman"/>
              </a:rPr>
              <a:t>balances</a:t>
            </a:r>
            <a:r>
              <a:rPr dirty="0" sz="2050" spc="5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dirty="0" sz="2050" spc="50">
                <a:solidFill>
                  <a:srgbClr val="333333"/>
                </a:solidFill>
                <a:latin typeface="Times New Roman"/>
                <a:cs typeface="Times New Roman"/>
              </a:rPr>
              <a:t>aesthetics</a:t>
            </a:r>
            <a:r>
              <a:rPr dirty="0" sz="205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2050">
                <a:solidFill>
                  <a:srgbClr val="424242"/>
                </a:solidFill>
                <a:latin typeface="Times New Roman"/>
                <a:cs typeface="Times New Roman"/>
              </a:rPr>
              <a:t>and</a:t>
            </a:r>
            <a:r>
              <a:rPr dirty="0" sz="2050" spc="10">
                <a:solidFill>
                  <a:srgbClr val="424242"/>
                </a:solidFill>
                <a:latin typeface="Times New Roman"/>
                <a:cs typeface="Times New Roman"/>
              </a:rPr>
              <a:t> </a:t>
            </a:r>
            <a:r>
              <a:rPr dirty="0" sz="2050" spc="-10">
                <a:solidFill>
                  <a:srgbClr val="313131"/>
                </a:solidFill>
                <a:latin typeface="Times New Roman"/>
                <a:cs typeface="Times New Roman"/>
              </a:rPr>
              <a:t>function.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5474883" y="6634343"/>
            <a:ext cx="1802130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>
                <a:solidFill>
                  <a:srgbClr val="1F1F1F"/>
                </a:solidFill>
                <a:latin typeface="Times New Roman"/>
                <a:cs typeface="Times New Roman"/>
              </a:rPr>
              <a:t>E-</a:t>
            </a:r>
            <a:r>
              <a:rPr dirty="0" sz="2550" spc="-10">
                <a:solidFill>
                  <a:srgbClr val="1F1F1F"/>
                </a:solidFill>
                <a:latin typeface="Times New Roman"/>
                <a:cs typeface="Times New Roman"/>
              </a:rPr>
              <a:t>Commerce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4350937" y="7292110"/>
            <a:ext cx="4074160" cy="810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25830" marR="5080" indent="-913765">
              <a:lnSpc>
                <a:spcPct val="117100"/>
              </a:lnSpc>
              <a:spcBef>
                <a:spcPts val="100"/>
              </a:spcBef>
            </a:pPr>
            <a:r>
              <a:rPr dirty="0" sz="2200" spc="-50">
                <a:solidFill>
                  <a:srgbClr val="313131"/>
                </a:solidFill>
                <a:latin typeface="Calibri"/>
                <a:cs typeface="Calibri"/>
              </a:rPr>
              <a:t>Mastering</a:t>
            </a:r>
            <a:r>
              <a:rPr dirty="0" sz="2200" spc="-65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2200" spc="-6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dirty="0" sz="2200" spc="-204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2200" spc="-70">
                <a:solidFill>
                  <a:srgbClr val="242424"/>
                </a:solidFill>
                <a:latin typeface="Calibri"/>
                <a:cs typeface="Calibri"/>
              </a:rPr>
              <a:t>fundamentals</a:t>
            </a:r>
            <a:r>
              <a:rPr dirty="0" sz="2200" spc="3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2200" spc="-45">
                <a:solidFill>
                  <a:srgbClr val="444444"/>
                </a:solidFill>
                <a:latin typeface="Calibri"/>
                <a:cs typeface="Calibri"/>
              </a:rPr>
              <a:t>of</a:t>
            </a:r>
            <a:r>
              <a:rPr dirty="0" sz="2200" spc="-16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343434"/>
                </a:solidFill>
                <a:latin typeface="Calibri"/>
                <a:cs typeface="Calibri"/>
              </a:rPr>
              <a:t>online </a:t>
            </a:r>
            <a:r>
              <a:rPr dirty="0" sz="2200" spc="-45">
                <a:solidFill>
                  <a:srgbClr val="383838"/>
                </a:solidFill>
                <a:latin typeface="Calibri"/>
                <a:cs typeface="Calibri"/>
              </a:rPr>
              <a:t>business</a:t>
            </a:r>
            <a:r>
              <a:rPr dirty="0" sz="2200" spc="-7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2F2F2F"/>
                </a:solidFill>
                <a:latin typeface="Calibri"/>
                <a:cs typeface="Calibri"/>
              </a:rPr>
              <a:t>operations.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95443" y="11089923"/>
            <a:ext cx="2216615" cy="218632"/>
          </a:xfrm>
          <a:prstGeom prst="rect">
            <a:avLst/>
          </a:prstGeom>
        </p:spPr>
      </p:pic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5236007" y="6741195"/>
          <a:ext cx="13912850" cy="4565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7910"/>
                <a:gridCol w="227965"/>
                <a:gridCol w="337184"/>
                <a:gridCol w="374650"/>
                <a:gridCol w="588010"/>
                <a:gridCol w="859154"/>
                <a:gridCol w="478789"/>
                <a:gridCol w="493395"/>
                <a:gridCol w="838200"/>
                <a:gridCol w="928369"/>
                <a:gridCol w="7653655"/>
              </a:tblGrid>
              <a:tr h="1156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  <a:p>
                      <a:pPr algn="r" marR="85725">
                        <a:lnSpc>
                          <a:spcPct val="100000"/>
                        </a:lnSpc>
                      </a:pPr>
                      <a:r>
                        <a:rPr dirty="0" sz="3000" spc="-25" i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,°</a:t>
                      </a:r>
                      <a:endParaRPr sz="3000">
                        <a:latin typeface="Calibri"/>
                        <a:cs typeface="Calibri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  <a:p>
                      <a:pPr marL="19685">
                        <a:lnSpc>
                          <a:spcPct val="100000"/>
                        </a:lnSpc>
                      </a:pPr>
                      <a:r>
                        <a:rPr dirty="0" sz="3000" spc="-305" i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°,</a:t>
                      </a:r>
                      <a:endParaRPr sz="3000">
                        <a:latin typeface="Calibri"/>
                        <a:cs typeface="Calibri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  <a:p>
                      <a:pPr marL="161290">
                        <a:lnSpc>
                          <a:spcPct val="100000"/>
                        </a:lnSpc>
                      </a:pPr>
                      <a:r>
                        <a:rPr dirty="0" sz="3000" spc="-50" i="1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°</a:t>
                      </a:r>
                      <a:endParaRPr sz="3000">
                        <a:latin typeface="Calibri"/>
                        <a:cs typeface="Calibri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  <a:p>
                      <a:pPr marL="114300">
                        <a:lnSpc>
                          <a:spcPct val="100000"/>
                        </a:lnSpc>
                      </a:pPr>
                      <a:r>
                        <a:rPr dirty="0" sz="3000" spc="-50" i="1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,</a:t>
                      </a:r>
                      <a:endParaRPr sz="3000">
                        <a:latin typeface="Calibri"/>
                        <a:cs typeface="Calibri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  <a:p>
                      <a:pPr marL="378460">
                        <a:lnSpc>
                          <a:spcPct val="100000"/>
                        </a:lnSpc>
                      </a:pPr>
                      <a:r>
                        <a:rPr dirty="0" sz="3000" spc="-25" i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°)</a:t>
                      </a:r>
                      <a:endParaRPr sz="3000">
                        <a:latin typeface="Calibri"/>
                        <a:cs typeface="Calibri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  <a:p>
                      <a:pPr marL="235585">
                        <a:lnSpc>
                          <a:spcPct val="100000"/>
                        </a:lnSpc>
                      </a:pPr>
                      <a:r>
                        <a:rPr dirty="0" sz="3000" spc="-50" i="1">
                          <a:solidFill>
                            <a:srgbClr val="181818"/>
                          </a:solidFill>
                          <a:latin typeface="Calibri"/>
                          <a:cs typeface="Calibri"/>
                        </a:rPr>
                        <a:t>°</a:t>
                      </a:r>
                      <a:endParaRPr sz="3000">
                        <a:latin typeface="Calibri"/>
                        <a:cs typeface="Calibri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9220">
                        <a:lnSpc>
                          <a:spcPts val="2725"/>
                        </a:lnSpc>
                      </a:pPr>
                      <a:r>
                        <a:rPr dirty="0" sz="2850" spc="-280">
                          <a:solidFill>
                            <a:srgbClr val="906E64"/>
                          </a:solidFill>
                          <a:latin typeface="Calibri"/>
                          <a:cs typeface="Calibri"/>
                        </a:rPr>
                        <a:t>•x’</a:t>
                      </a:r>
                      <a:endParaRPr sz="28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2725"/>
                        </a:lnSpc>
                      </a:pPr>
                      <a:r>
                        <a:rPr dirty="0" sz="2850" spc="110">
                          <a:solidFill>
                            <a:srgbClr val="424242"/>
                          </a:solidFill>
                          <a:latin typeface="Calibri"/>
                          <a:cs typeface="Calibri"/>
                        </a:rPr>
                        <a:t>Auto-</a:t>
                      </a:r>
                      <a:r>
                        <a:rPr dirty="0" sz="2850" spc="100">
                          <a:solidFill>
                            <a:srgbClr val="424242"/>
                          </a:solidFill>
                          <a:latin typeface="Calibri"/>
                          <a:cs typeface="Calibri"/>
                        </a:rPr>
                        <a:t>Reply:</a:t>
                      </a:r>
                      <a:r>
                        <a:rPr dirty="0" sz="2850" spc="215">
                          <a:solidFill>
                            <a:srgbClr val="4242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850">
                          <a:solidFill>
                            <a:srgbClr val="3B3B3B"/>
                          </a:solidFill>
                          <a:latin typeface="Calibri"/>
                          <a:cs typeface="Calibri"/>
                        </a:rPr>
                        <a:t>Instantly</a:t>
                      </a:r>
                      <a:r>
                        <a:rPr dirty="0" sz="2850" spc="10">
                          <a:solidFill>
                            <a:srgbClr val="3B3B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850">
                          <a:solidFill>
                            <a:srgbClr val="3B3B3B"/>
                          </a:solidFill>
                          <a:latin typeface="Calibri"/>
                          <a:cs typeface="Calibri"/>
                        </a:rPr>
                        <a:t>responds</a:t>
                      </a:r>
                      <a:r>
                        <a:rPr dirty="0" sz="2850" spc="200">
                          <a:solidFill>
                            <a:srgbClr val="3B3B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85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2850" spc="-105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850" spc="120">
                          <a:solidFill>
                            <a:srgbClr val="444444"/>
                          </a:solidFill>
                          <a:latin typeface="Calibri"/>
                          <a:cs typeface="Calibri"/>
                        </a:rPr>
                        <a:t>DMs</a:t>
                      </a:r>
                      <a:r>
                        <a:rPr dirty="0" sz="2850" spc="35">
                          <a:solidFill>
                            <a:srgbClr val="4444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850" spc="-10">
                          <a:solidFill>
                            <a:srgbClr val="2F2F2F"/>
                          </a:solidFill>
                          <a:latin typeface="Calibri"/>
                          <a:cs typeface="Calibri"/>
                        </a:rPr>
                        <a:t>regarding</a:t>
                      </a:r>
                      <a:endParaRPr sz="2850">
                        <a:latin typeface="Calibri"/>
                        <a:cs typeface="Calibri"/>
                      </a:endParaRPr>
                    </a:p>
                    <a:p>
                      <a:pPr marL="12573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3000" spc="-70">
                          <a:solidFill>
                            <a:srgbClr val="414141"/>
                          </a:solidFill>
                          <a:latin typeface="Calibri"/>
                          <a:cs typeface="Calibri"/>
                        </a:rPr>
                        <a:t>products</a:t>
                      </a:r>
                      <a:r>
                        <a:rPr dirty="0" sz="3000" spc="-15">
                          <a:solidFill>
                            <a:srgbClr val="41414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000" spc="-135">
                          <a:solidFill>
                            <a:srgbClr val="424242"/>
                          </a:solidFill>
                          <a:latin typeface="Calibri"/>
                          <a:cs typeface="Calibri"/>
                        </a:rPr>
                        <a:t>and </a:t>
                      </a:r>
                      <a:r>
                        <a:rPr dirty="0" sz="3000" spc="-10">
                          <a:solidFill>
                            <a:srgbClr val="2D2D2D"/>
                          </a:solidFill>
                          <a:latin typeface="Calibri"/>
                          <a:cs typeface="Calibri"/>
                        </a:rPr>
                        <a:t>hours.</a:t>
                      </a:r>
                      <a:endParaRPr sz="3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4141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5570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dirty="0" sz="3100" spc="-459">
                          <a:solidFill>
                            <a:srgbClr val="83675D"/>
                          </a:solidFill>
                          <a:latin typeface="Calibri"/>
                          <a:cs typeface="Calibri"/>
                        </a:rPr>
                        <a:t>•*’</a:t>
                      </a:r>
                      <a:endParaRPr sz="3100">
                        <a:latin typeface="Calibri"/>
                        <a:cs typeface="Calibri"/>
                      </a:endParaRPr>
                    </a:p>
                  </a:txBody>
                  <a:tcPr marL="0" marR="0" marB="0" marT="137160"/>
                </a:tc>
                <a:tc>
                  <a:txBody>
                    <a:bodyPr/>
                    <a:lstStyle/>
                    <a:p>
                      <a:pPr marL="125095" marR="686435" indent="-8255">
                        <a:lnSpc>
                          <a:spcPct val="116500"/>
                        </a:lnSpc>
                        <a:spcBef>
                          <a:spcPts val="465"/>
                        </a:spcBef>
                      </a:pPr>
                      <a:r>
                        <a:rPr dirty="0" sz="3100">
                          <a:solidFill>
                            <a:srgbClr val="414141"/>
                          </a:solidFill>
                          <a:latin typeface="Calibri"/>
                          <a:cs typeface="Calibri"/>
                        </a:rPr>
                        <a:t>Consistency:</a:t>
                      </a:r>
                      <a:r>
                        <a:rPr dirty="0" sz="3100" spc="-35">
                          <a:solidFill>
                            <a:srgbClr val="41414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25">
                          <a:solidFill>
                            <a:srgbClr val="414141"/>
                          </a:solidFill>
                          <a:latin typeface="Calibri"/>
                          <a:cs typeface="Calibri"/>
                        </a:rPr>
                        <a:t>Uses</a:t>
                      </a:r>
                      <a:r>
                        <a:rPr dirty="0" sz="3100" spc="-20">
                          <a:solidFill>
                            <a:srgbClr val="41414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150">
                          <a:solidFill>
                            <a:srgbClr val="424242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3100" spc="-100">
                          <a:solidFill>
                            <a:srgbClr val="4242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120">
                          <a:solidFill>
                            <a:srgbClr val="3D3D3D"/>
                          </a:solidFill>
                          <a:latin typeface="Calibri"/>
                          <a:cs typeface="Calibri"/>
                        </a:rPr>
                        <a:t>exact</a:t>
                      </a:r>
                      <a:r>
                        <a:rPr dirty="0" sz="3100" spc="-110">
                          <a:solidFill>
                            <a:srgbClr val="3D3D3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18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same</a:t>
                      </a:r>
                      <a:r>
                        <a:rPr dirty="0" sz="3100" spc="-45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75">
                          <a:solidFill>
                            <a:srgbClr val="3B3B3B"/>
                          </a:solidFill>
                          <a:latin typeface="Calibri"/>
                          <a:cs typeface="Calibri"/>
                        </a:rPr>
                        <a:t>knowledge </a:t>
                      </a:r>
                      <a:r>
                        <a:rPr dirty="0" sz="3100" spc="-130">
                          <a:solidFill>
                            <a:srgbClr val="424242"/>
                          </a:solidFill>
                          <a:latin typeface="Calibri"/>
                          <a:cs typeface="Calibri"/>
                        </a:rPr>
                        <a:t>base</a:t>
                      </a:r>
                      <a:r>
                        <a:rPr dirty="0" sz="3100" spc="-35">
                          <a:solidFill>
                            <a:srgbClr val="4242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130">
                          <a:solidFill>
                            <a:srgbClr val="3B3B3B"/>
                          </a:solidFill>
                          <a:latin typeface="Calibri"/>
                          <a:cs typeface="Calibri"/>
                        </a:rPr>
                        <a:t>as</a:t>
                      </a:r>
                      <a:r>
                        <a:rPr dirty="0" sz="3100" spc="-35">
                          <a:solidFill>
                            <a:srgbClr val="3B3B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150">
                          <a:solidFill>
                            <a:srgbClr val="464646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3100" spc="-80">
                          <a:solidFill>
                            <a:srgbClr val="46464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135">
                          <a:solidFill>
                            <a:srgbClr val="3D3D3D"/>
                          </a:solidFill>
                          <a:latin typeface="Calibri"/>
                          <a:cs typeface="Calibri"/>
                        </a:rPr>
                        <a:t>web</a:t>
                      </a:r>
                      <a:r>
                        <a:rPr dirty="0" sz="3100" spc="-180">
                          <a:solidFill>
                            <a:srgbClr val="3D3D3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10">
                          <a:solidFill>
                            <a:srgbClr val="424242"/>
                          </a:solidFill>
                          <a:latin typeface="Calibri"/>
                          <a:cs typeface="Calibri"/>
                        </a:rPr>
                        <a:t>chatbot.</a:t>
                      </a:r>
                      <a:endParaRPr sz="3100">
                        <a:latin typeface="Calibri"/>
                        <a:cs typeface="Calibri"/>
                      </a:endParaRPr>
                    </a:p>
                  </a:txBody>
                  <a:tcPr marL="0" marR="0" marB="0" marT="59055"/>
                </a:tc>
              </a:tr>
              <a:tr h="709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1760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dirty="0" sz="3100" spc="-340">
                          <a:solidFill>
                            <a:srgbClr val="8C7567"/>
                          </a:solidFill>
                          <a:latin typeface="Calibri"/>
                          <a:cs typeface="Calibri"/>
                        </a:rPr>
                        <a:t>•z’</a:t>
                      </a:r>
                      <a:endParaRPr sz="3100">
                        <a:latin typeface="Calibri"/>
                        <a:cs typeface="Calibri"/>
                      </a:endParaRPr>
                    </a:p>
                  </a:txBody>
                  <a:tcPr marL="0" marR="0" marB="0" marT="13589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dirty="0" sz="3100" spc="-60">
                          <a:solidFill>
                            <a:srgbClr val="383838"/>
                          </a:solidFill>
                          <a:latin typeface="Calibri"/>
                          <a:cs typeface="Calibri"/>
                        </a:rPr>
                        <a:t>Engagement:</a:t>
                      </a:r>
                      <a:r>
                        <a:rPr dirty="0" sz="3100" spc="-100">
                          <a:solidFill>
                            <a:srgbClr val="38383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65">
                          <a:solidFill>
                            <a:srgbClr val="424242"/>
                          </a:solidFill>
                          <a:latin typeface="Calibri"/>
                          <a:cs typeface="Calibri"/>
                        </a:rPr>
                        <a:t>Captures</a:t>
                      </a:r>
                      <a:r>
                        <a:rPr dirty="0" sz="3100" spc="-15">
                          <a:solidFill>
                            <a:srgbClr val="4242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120">
                          <a:solidFill>
                            <a:srgbClr val="363636"/>
                          </a:solidFill>
                          <a:latin typeface="Calibri"/>
                          <a:cs typeface="Calibri"/>
                        </a:rPr>
                        <a:t>customers</a:t>
                      </a:r>
                      <a:r>
                        <a:rPr dirty="0" sz="3100" spc="-30">
                          <a:solidFill>
                            <a:srgbClr val="36363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75">
                          <a:solidFill>
                            <a:srgbClr val="3D3D3D"/>
                          </a:solidFill>
                          <a:latin typeface="Calibri"/>
                          <a:cs typeface="Calibri"/>
                        </a:rPr>
                        <a:t>where</a:t>
                      </a:r>
                      <a:r>
                        <a:rPr dirty="0" sz="3100" spc="-5">
                          <a:solidFill>
                            <a:srgbClr val="3D3D3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11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they</a:t>
                      </a:r>
                      <a:r>
                        <a:rPr dirty="0" sz="3100" spc="-17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-25">
                          <a:solidFill>
                            <a:srgbClr val="444444"/>
                          </a:solidFill>
                          <a:latin typeface="Calibri"/>
                          <a:cs typeface="Calibri"/>
                        </a:rPr>
                        <a:t>are</a:t>
                      </a:r>
                      <a:endParaRPr sz="3100">
                        <a:latin typeface="Calibri"/>
                        <a:cs typeface="Calibri"/>
                      </a:endParaRPr>
                    </a:p>
                  </a:txBody>
                  <a:tcPr marL="0" marR="0" marB="0" marT="135890"/>
                </a:tc>
              </a:tr>
              <a:tr h="768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3515"/>
                        </a:lnSpc>
                      </a:pPr>
                      <a:r>
                        <a:rPr dirty="0" sz="3000" spc="-50" i="1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°</a:t>
                      </a:r>
                      <a:endParaRPr sz="3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ts val="3515"/>
                        </a:lnSpc>
                      </a:pPr>
                      <a:r>
                        <a:rPr dirty="0" sz="3000" spc="-50" i="1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°</a:t>
                      </a:r>
                      <a:endParaRPr sz="3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50190">
                        <a:lnSpc>
                          <a:spcPts val="3515"/>
                        </a:lnSpc>
                      </a:pPr>
                      <a:r>
                        <a:rPr dirty="0" sz="3000" spc="-5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°</a:t>
                      </a:r>
                      <a:endParaRPr sz="3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ts val="3515"/>
                        </a:lnSpc>
                      </a:pPr>
                      <a:r>
                        <a:rPr dirty="0" sz="3000" spc="-10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most</a:t>
                      </a:r>
                      <a:r>
                        <a:rPr dirty="0" sz="3000" spc="-6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000" spc="-1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active.</a:t>
                      </a:r>
                      <a:endParaRPr sz="3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517525">
                <a:tc>
                  <a:txBody>
                    <a:bodyPr/>
                    <a:lstStyle/>
                    <a:p>
                      <a:pPr marL="31750">
                        <a:lnSpc>
                          <a:spcPts val="2130"/>
                        </a:lnSpc>
                        <a:spcBef>
                          <a:spcPts val="1845"/>
                        </a:spcBef>
                      </a:pPr>
                      <a:r>
                        <a:rPr dirty="0" sz="2200" spc="50">
                          <a:solidFill>
                            <a:srgbClr val="5E52CD"/>
                          </a:solidFill>
                          <a:latin typeface="Calibri"/>
                          <a:cs typeface="Calibri"/>
                        </a:rPr>
                        <a:t>O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23431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10993933" y="818214"/>
            <a:ext cx="4194810" cy="2611755"/>
          </a:xfrm>
          <a:prstGeom prst="rect">
            <a:avLst/>
          </a:prstGeom>
        </p:spPr>
        <p:txBody>
          <a:bodyPr wrap="square" lIns="0" tIns="1720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dirty="0" sz="7400" spc="-10">
                <a:solidFill>
                  <a:srgbClr val="2A2A2A"/>
                </a:solidFill>
                <a:latin typeface="Times New Roman"/>
                <a:cs typeface="Times New Roman"/>
              </a:rPr>
              <a:t>Instagram</a:t>
            </a:r>
            <a:endParaRPr sz="7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dirty="0" sz="7450" spc="-10">
                <a:solidFill>
                  <a:srgbClr val="262626"/>
                </a:solidFill>
                <a:latin typeface="Times New Roman"/>
                <a:cs typeface="Times New Roman"/>
              </a:rPr>
              <a:t>Integration</a:t>
            </a:r>
            <a:endParaRPr sz="74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484251" y="1425999"/>
            <a:ext cx="193675" cy="119443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650" spc="-645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  <a:endParaRPr sz="765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318572" y="2263774"/>
            <a:ext cx="645795" cy="11658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450" spc="-335">
                <a:solidFill>
                  <a:srgbClr val="242424"/>
                </a:solidFill>
                <a:latin typeface="Times New Roman"/>
                <a:cs typeface="Times New Roman"/>
              </a:rPr>
              <a:t>'</a:t>
            </a:r>
            <a:r>
              <a:rPr dirty="0" sz="7450" spc="-235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dirty="0" sz="7450" spc="-795">
                <a:solidFill>
                  <a:srgbClr val="1F1F1F"/>
                </a:solidFill>
                <a:latin typeface="Times New Roman"/>
                <a:cs typeface="Times New Roman"/>
              </a:rPr>
              <a:t>°</a:t>
            </a:r>
            <a:endParaRPr sz="745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098014" y="4135497"/>
            <a:ext cx="1166495" cy="42608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39115" algn="l"/>
                <a:tab pos="1082040" algn="l"/>
              </a:tabLst>
            </a:pPr>
            <a:r>
              <a:rPr dirty="0" sz="2600" spc="-50" i="1">
                <a:solidFill>
                  <a:srgbClr val="1F1F1F"/>
                </a:solidFill>
                <a:latin typeface="Times New Roman"/>
                <a:cs typeface="Times New Roman"/>
              </a:rPr>
              <a:t>‹</a:t>
            </a:r>
            <a:r>
              <a:rPr dirty="0" sz="2600" i="1">
                <a:solidFill>
                  <a:srgbClr val="1F1F1F"/>
                </a:solidFill>
                <a:latin typeface="Times New Roman"/>
                <a:cs typeface="Times New Roman"/>
              </a:rPr>
              <a:t>	</a:t>
            </a:r>
            <a:r>
              <a:rPr dirty="0" sz="2600" spc="-320" i="1">
                <a:solidFill>
                  <a:srgbClr val="151515"/>
                </a:solidFill>
                <a:latin typeface="Times New Roman"/>
                <a:cs typeface="Times New Roman"/>
              </a:rPr>
              <a:t>-</a:t>
            </a:r>
            <a:r>
              <a:rPr dirty="0" sz="2600" i="1">
                <a:solidFill>
                  <a:srgbClr val="151515"/>
                </a:solidFill>
                <a:latin typeface="Times New Roman"/>
                <a:cs typeface="Times New Roman"/>
              </a:rPr>
              <a:t>	</a:t>
            </a:r>
            <a:r>
              <a:rPr dirty="0" sz="2600" spc="-365" i="1">
                <a:solidFill>
                  <a:srgbClr val="181818"/>
                </a:solidFill>
                <a:latin typeface="Times New Roman"/>
                <a:cs typeface="Times New Roman"/>
              </a:rPr>
              <a:t>-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238030" y="4135497"/>
            <a:ext cx="1045210" cy="42608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32740" algn="l"/>
                <a:tab pos="630555" algn="l"/>
                <a:tab pos="978535" algn="l"/>
              </a:tabLst>
            </a:pPr>
            <a:r>
              <a:rPr dirty="0" sz="2600" spc="-365" i="1">
                <a:solidFill>
                  <a:srgbClr val="181818"/>
                </a:solidFill>
                <a:latin typeface="Times New Roman"/>
                <a:cs typeface="Times New Roman"/>
              </a:rPr>
              <a:t>-</a:t>
            </a:r>
            <a:r>
              <a:rPr dirty="0" sz="2600" i="1">
                <a:solidFill>
                  <a:srgbClr val="181818"/>
                </a:solidFill>
                <a:latin typeface="Times New Roman"/>
                <a:cs typeface="Times New Roman"/>
              </a:rPr>
              <a:t>	</a:t>
            </a:r>
            <a:r>
              <a:rPr dirty="0" sz="2600" spc="-320" i="1">
                <a:solidFill>
                  <a:srgbClr val="1F1F1F"/>
                </a:solidFill>
                <a:latin typeface="Times New Roman"/>
                <a:cs typeface="Times New Roman"/>
              </a:rPr>
              <a:t>-</a:t>
            </a:r>
            <a:r>
              <a:rPr dirty="0" sz="2600" i="1">
                <a:solidFill>
                  <a:srgbClr val="1F1F1F"/>
                </a:solidFill>
                <a:latin typeface="Times New Roman"/>
                <a:cs typeface="Times New Roman"/>
              </a:rPr>
              <a:t>	</a:t>
            </a:r>
            <a:r>
              <a:rPr dirty="0" sz="2600" spc="-365" i="1">
                <a:solidFill>
                  <a:srgbClr val="0F0F0F"/>
                </a:solidFill>
                <a:latin typeface="Times New Roman"/>
                <a:cs typeface="Times New Roman"/>
              </a:rPr>
              <a:t>-</a:t>
            </a:r>
            <a:r>
              <a:rPr dirty="0" sz="2600" i="1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dirty="0" sz="2600" spc="-175" i="1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990784" y="4437060"/>
            <a:ext cx="2988310" cy="42608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55">
                <a:solidFill>
                  <a:srgbClr val="262626"/>
                </a:solidFill>
                <a:latin typeface="Times New Roman"/>
                <a:cs typeface="Times New Roman"/>
              </a:rPr>
              <a:t>Oninichamel</a:t>
            </a:r>
            <a:r>
              <a:rPr dirty="0" sz="2600" spc="35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212121"/>
                </a:solidFill>
                <a:latin typeface="Times New Roman"/>
                <a:cs typeface="Times New Roman"/>
              </a:rPr>
              <a:t>Support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333827" y="5242637"/>
            <a:ext cx="140335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340">
                <a:solidFill>
                  <a:srgbClr val="80622A"/>
                </a:solidFill>
                <a:latin typeface="Calibri"/>
                <a:cs typeface="Calibri"/>
              </a:rPr>
              <a:t>'</a:t>
            </a:r>
            <a:r>
              <a:rPr dirty="0" sz="2100" spc="-340">
                <a:solidFill>
                  <a:srgbClr val="F78700"/>
                </a:solidFill>
                <a:latin typeface="Calibri"/>
                <a:cs typeface="Calibri"/>
              </a:rPr>
              <a:t>*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960240" y="5242637"/>
            <a:ext cx="15875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475">
                <a:solidFill>
                  <a:srgbClr val="1C1C1C"/>
                </a:solidFill>
                <a:latin typeface="Calibri"/>
                <a:cs typeface="Calibri"/>
              </a:rPr>
              <a:t>°</a:t>
            </a:r>
            <a:r>
              <a:rPr dirty="0" sz="2100" spc="95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2100" spc="-465">
                <a:solidFill>
                  <a:srgbClr val="0F0F0F"/>
                </a:solidFill>
                <a:latin typeface="Calibri"/>
                <a:cs typeface="Calibri"/>
              </a:rPr>
              <a:t>-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574708" y="5242637"/>
            <a:ext cx="5715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25">
                <a:solidFill>
                  <a:srgbClr val="212121"/>
                </a:solidFill>
                <a:latin typeface="Calibri"/>
                <a:cs typeface="Calibri"/>
              </a:rPr>
              <a:t>°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139022" y="5242637"/>
            <a:ext cx="183642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83895" algn="l"/>
                <a:tab pos="894715" algn="l"/>
                <a:tab pos="1249045" algn="l"/>
                <a:tab pos="1758950" algn="l"/>
              </a:tabLst>
            </a:pPr>
            <a:r>
              <a:rPr dirty="0" sz="2100" spc="-465">
                <a:solidFill>
                  <a:srgbClr val="0F0F0F"/>
                </a:solidFill>
                <a:latin typeface="Calibri"/>
                <a:cs typeface="Calibri"/>
              </a:rPr>
              <a:t>-</a:t>
            </a:r>
            <a:r>
              <a:rPr dirty="0" sz="2100">
                <a:solidFill>
                  <a:srgbClr val="0F0F0F"/>
                </a:solidFill>
                <a:latin typeface="Calibri"/>
                <a:cs typeface="Calibri"/>
              </a:rPr>
              <a:t>	</a:t>
            </a:r>
            <a:r>
              <a:rPr dirty="0" sz="2100" spc="-315">
                <a:solidFill>
                  <a:srgbClr val="161616"/>
                </a:solidFill>
                <a:latin typeface="Calibri"/>
                <a:cs typeface="Calibri"/>
              </a:rPr>
              <a:t>“</a:t>
            </a:r>
            <a:r>
              <a:rPr dirty="0" sz="2100">
                <a:solidFill>
                  <a:srgbClr val="161616"/>
                </a:solidFill>
                <a:latin typeface="Calibri"/>
                <a:cs typeface="Calibri"/>
              </a:rPr>
              <a:t>	</a:t>
            </a:r>
            <a:r>
              <a:rPr dirty="0" sz="2100" spc="-50">
                <a:latin typeface="Calibri"/>
                <a:cs typeface="Calibri"/>
              </a:rPr>
              <a:t>-</a:t>
            </a:r>
            <a:r>
              <a:rPr dirty="0" sz="2100">
                <a:latin typeface="Calibri"/>
                <a:cs typeface="Calibri"/>
              </a:rPr>
              <a:t>	</a:t>
            </a:r>
            <a:r>
              <a:rPr dirty="0" sz="2100" spc="-50">
                <a:latin typeface="Calibri"/>
                <a:cs typeface="Calibri"/>
              </a:rPr>
              <a:t>-</a:t>
            </a:r>
            <a:r>
              <a:rPr dirty="0" sz="2100">
                <a:latin typeface="Calibri"/>
                <a:cs typeface="Calibri"/>
              </a:rPr>
              <a:t>	</a:t>
            </a:r>
            <a:r>
              <a:rPr dirty="0" sz="2100" spc="-160">
                <a:solidFill>
                  <a:srgbClr val="232323"/>
                </a:solidFill>
                <a:latin typeface="Calibri"/>
                <a:cs typeface="Calibri"/>
              </a:rPr>
              <a:t>°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0984674" y="5166044"/>
            <a:ext cx="8114030" cy="831215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705"/>
              </a:spcBef>
            </a:pPr>
            <a:r>
              <a:rPr dirty="0" sz="2100">
                <a:solidFill>
                  <a:srgbClr val="4B4B4B"/>
                </a:solidFill>
                <a:latin typeface="Calibri"/>
                <a:cs typeface="Calibri"/>
              </a:rPr>
              <a:t>The</a:t>
            </a:r>
            <a:r>
              <a:rPr dirty="0" sz="2100" spc="-14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3B3B3B"/>
                </a:solidFill>
                <a:latin typeface="Calibri"/>
                <a:cs typeface="Calibri"/>
              </a:rPr>
              <a:t>customer</a:t>
            </a:r>
            <a:r>
              <a:rPr dirty="0" sz="2100" spc="-5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424242"/>
                </a:solidFill>
                <a:latin typeface="Calibri"/>
                <a:cs typeface="Calibri"/>
              </a:rPr>
              <a:t>service</a:t>
            </a:r>
            <a:r>
              <a:rPr dirty="0" sz="2100" spc="-9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24242"/>
                </a:solidFill>
                <a:latin typeface="Calibri"/>
                <a:cs typeface="Calibri"/>
              </a:rPr>
              <a:t>isn</a:t>
            </a:r>
            <a:r>
              <a:rPr dirty="0" sz="2100" spc="-85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66493D"/>
                </a:solidFill>
                <a:latin typeface="Calibri"/>
                <a:cs typeface="Calibri"/>
              </a:rPr>
              <a:t>t</a:t>
            </a:r>
            <a:r>
              <a:rPr dirty="0" sz="2100" spc="-85">
                <a:solidFill>
                  <a:srgbClr val="66493D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383838"/>
                </a:solidFill>
                <a:latin typeface="Calibri"/>
                <a:cs typeface="Calibri"/>
              </a:rPr>
              <a:t>limited</a:t>
            </a:r>
            <a:r>
              <a:rPr dirty="0" sz="2100" spc="-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24242"/>
                </a:solidFill>
                <a:latin typeface="Calibri"/>
                <a:cs typeface="Calibri"/>
              </a:rPr>
              <a:t>to</a:t>
            </a:r>
            <a:r>
              <a:rPr dirty="0" sz="2100" spc="-114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464646"/>
                </a:solidFill>
                <a:latin typeface="Calibri"/>
                <a:cs typeface="Calibri"/>
              </a:rPr>
              <a:t>the</a:t>
            </a:r>
            <a:r>
              <a:rPr dirty="0" sz="2100" spc="-8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100" spc="-30">
                <a:solidFill>
                  <a:srgbClr val="3A3A3A"/>
                </a:solidFill>
                <a:latin typeface="Calibri"/>
                <a:cs typeface="Calibri"/>
              </a:rPr>
              <a:t>website.</a:t>
            </a:r>
            <a:r>
              <a:rPr dirty="0" sz="2100" spc="15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24242"/>
                </a:solidFill>
                <a:latin typeface="Calibri"/>
                <a:cs typeface="Calibri"/>
              </a:rPr>
              <a:t>The</a:t>
            </a:r>
            <a:r>
              <a:rPr dirty="0" sz="2100" spc="-9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383838"/>
                </a:solidFill>
                <a:latin typeface="Calibri"/>
                <a:cs typeface="Calibri"/>
              </a:rPr>
              <a:t>Botpress</a:t>
            </a:r>
            <a:r>
              <a:rPr dirty="0" sz="2100" spc="-2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414141"/>
                </a:solidFill>
                <a:latin typeface="Calibri"/>
                <a:cs typeface="Calibri"/>
              </a:rPr>
              <a:t>agent</a:t>
            </a:r>
            <a:r>
              <a:rPr dirty="0" sz="2100" spc="-5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dirty="0" sz="2100" spc="-11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3D3D3D"/>
                </a:solidFill>
                <a:latin typeface="Calibri"/>
                <a:cs typeface="Calibri"/>
              </a:rPr>
              <a:t>fully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2150" spc="-40">
                <a:solidFill>
                  <a:srgbClr val="363636"/>
                </a:solidFill>
                <a:latin typeface="Calibri"/>
                <a:cs typeface="Calibri"/>
              </a:rPr>
              <a:t>integrated</a:t>
            </a:r>
            <a:r>
              <a:rPr dirty="0" sz="2150" spc="-5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150" spc="-20">
                <a:solidFill>
                  <a:srgbClr val="424242"/>
                </a:solidFill>
                <a:latin typeface="Calibri"/>
                <a:cs typeface="Calibri"/>
              </a:rPr>
              <a:t>with</a:t>
            </a:r>
            <a:r>
              <a:rPr dirty="0" sz="2150" spc="-75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2150" spc="-50">
                <a:solidFill>
                  <a:srgbClr val="494949"/>
                </a:solidFill>
                <a:latin typeface="Calibri"/>
                <a:cs typeface="Calibri"/>
              </a:rPr>
              <a:t>the</a:t>
            </a:r>
            <a:r>
              <a:rPr dirty="0" sz="2150" spc="-17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2150" spc="-35">
                <a:solidFill>
                  <a:srgbClr val="3B3B3B"/>
                </a:solidFill>
                <a:latin typeface="Calibri"/>
                <a:cs typeface="Calibri"/>
              </a:rPr>
              <a:t>boutique's</a:t>
            </a:r>
            <a:r>
              <a:rPr dirty="0" sz="2150" spc="75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2150" spc="-20">
                <a:solidFill>
                  <a:srgbClr val="363636"/>
                </a:solidFill>
                <a:latin typeface="Calibri"/>
                <a:cs typeface="Calibri"/>
              </a:rPr>
              <a:t>Instagram</a:t>
            </a:r>
            <a:r>
              <a:rPr dirty="0" sz="2150" spc="-135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363636"/>
                </a:solidFill>
                <a:latin typeface="Calibri"/>
                <a:cs typeface="Calibri"/>
              </a:rPr>
              <a:t>Business</a:t>
            </a:r>
            <a:r>
              <a:rPr dirty="0" sz="2150" spc="-35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150" spc="-10">
                <a:solidFill>
                  <a:srgbClr val="3D3D3D"/>
                </a:solidFill>
                <a:latin typeface="Calibri"/>
                <a:cs typeface="Calibri"/>
              </a:rPr>
              <a:t>account.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879010" y="5641892"/>
            <a:ext cx="884555" cy="3556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351790" algn="l"/>
                <a:tab pos="797560" algn="l"/>
              </a:tabLst>
            </a:pPr>
            <a:r>
              <a:rPr dirty="0" sz="2150" spc="-50" i="1">
                <a:solidFill>
                  <a:srgbClr val="212121"/>
                </a:solidFill>
                <a:latin typeface="Calibri"/>
                <a:cs typeface="Calibri"/>
              </a:rPr>
              <a:t>'</a:t>
            </a:r>
            <a:r>
              <a:rPr dirty="0" sz="2150" i="1">
                <a:solidFill>
                  <a:srgbClr val="212121"/>
                </a:solidFill>
                <a:latin typeface="Calibri"/>
                <a:cs typeface="Calibri"/>
              </a:rPr>
              <a:t>	</a:t>
            </a:r>
            <a:r>
              <a:rPr dirty="0" sz="2150" spc="-50" i="1">
                <a:solidFill>
                  <a:srgbClr val="262626"/>
                </a:solidFill>
                <a:latin typeface="Calibri"/>
                <a:cs typeface="Calibri"/>
              </a:rPr>
              <a:t>'</a:t>
            </a:r>
            <a:r>
              <a:rPr dirty="0" sz="2150" i="1">
                <a:solidFill>
                  <a:srgbClr val="262626"/>
                </a:solidFill>
                <a:latin typeface="Calibri"/>
                <a:cs typeface="Calibri"/>
              </a:rPr>
              <a:t>	</a:t>
            </a:r>
            <a:r>
              <a:rPr dirty="0" sz="2150" spc="-375">
                <a:solidFill>
                  <a:srgbClr val="111111"/>
                </a:solidFill>
                <a:latin typeface="Calibri"/>
                <a:cs typeface="Calibri"/>
              </a:rPr>
              <a:t>“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225488" y="6161928"/>
            <a:ext cx="2244725" cy="4730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32434" algn="l"/>
                <a:tab pos="886460" algn="l"/>
                <a:tab pos="1602105" algn="l"/>
                <a:tab pos="2165985" algn="l"/>
              </a:tabLst>
            </a:pPr>
            <a:r>
              <a:rPr dirty="0" sz="2900" spc="-775">
                <a:solidFill>
                  <a:srgbClr val="A87E08"/>
                </a:solidFill>
                <a:latin typeface="Calibri"/>
                <a:cs typeface="Calibri"/>
              </a:rPr>
              <a:t>_</a:t>
            </a:r>
            <a:r>
              <a:rPr dirty="0" sz="2900">
                <a:solidFill>
                  <a:srgbClr val="A87E08"/>
                </a:solidFill>
                <a:latin typeface="Calibri"/>
                <a:cs typeface="Calibri"/>
              </a:rPr>
              <a:t>	</a:t>
            </a:r>
            <a:r>
              <a:rPr dirty="0" sz="2900" spc="-420">
                <a:solidFill>
                  <a:srgbClr val="5E3AAA"/>
                </a:solidFill>
                <a:latin typeface="Calibri"/>
                <a:cs typeface="Calibri"/>
              </a:rPr>
              <a:t>.</a:t>
            </a:r>
            <a:r>
              <a:rPr dirty="0" sz="2900">
                <a:solidFill>
                  <a:srgbClr val="5E3AAA"/>
                </a:solidFill>
                <a:latin typeface="Calibri"/>
                <a:cs typeface="Calibri"/>
              </a:rPr>
              <a:t>	</a:t>
            </a:r>
            <a:r>
              <a:rPr dirty="0" sz="2900" spc="-225" i="1">
                <a:solidFill>
                  <a:srgbClr val="642DED"/>
                </a:solidFill>
                <a:latin typeface="Calibri"/>
                <a:cs typeface="Calibri"/>
              </a:rPr>
              <a:t>›</a:t>
            </a:r>
            <a:r>
              <a:rPr dirty="0" sz="2900" spc="-305" i="1">
                <a:solidFill>
                  <a:srgbClr val="642DED"/>
                </a:solidFill>
                <a:latin typeface="Calibri"/>
                <a:cs typeface="Calibri"/>
              </a:rPr>
              <a:t> </a:t>
            </a:r>
            <a:r>
              <a:rPr dirty="0" sz="2900" spc="-50" i="1">
                <a:solidFill>
                  <a:srgbClr val="6931FD"/>
                </a:solidFill>
                <a:latin typeface="Calibri"/>
                <a:cs typeface="Calibri"/>
              </a:rPr>
              <a:t>‹</a:t>
            </a:r>
            <a:r>
              <a:rPr dirty="0" sz="2900" i="1">
                <a:solidFill>
                  <a:srgbClr val="6931FD"/>
                </a:solidFill>
                <a:latin typeface="Calibri"/>
                <a:cs typeface="Calibri"/>
              </a:rPr>
              <a:t>	</a:t>
            </a:r>
            <a:r>
              <a:rPr dirty="0" sz="2900" spc="-50" i="1">
                <a:solidFill>
                  <a:srgbClr val="6231F9"/>
                </a:solidFill>
                <a:latin typeface="Calibri"/>
                <a:cs typeface="Calibri"/>
              </a:rPr>
              <a:t>›</a:t>
            </a:r>
            <a:r>
              <a:rPr dirty="0" sz="2900" i="1">
                <a:solidFill>
                  <a:srgbClr val="6231F9"/>
                </a:solidFill>
                <a:latin typeface="Calibri"/>
                <a:cs typeface="Calibri"/>
              </a:rPr>
              <a:t>	</a:t>
            </a:r>
            <a:r>
              <a:rPr dirty="0" sz="2900" spc="-434">
                <a:solidFill>
                  <a:srgbClr val="5D469A"/>
                </a:solidFill>
                <a:latin typeface="Calibri"/>
                <a:cs typeface="Calibri"/>
              </a:rPr>
              <a:t>-</a:t>
            </a:r>
            <a:endParaRPr sz="2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24581" y="2305128"/>
            <a:ext cx="18517870" cy="0"/>
          </a:xfrm>
          <a:custGeom>
            <a:avLst/>
            <a:gdLst/>
            <a:ahLst/>
            <a:cxnLst/>
            <a:rect l="l" t="t" r="r" b="b"/>
            <a:pathLst>
              <a:path w="18517870" h="0">
                <a:moveTo>
                  <a:pt x="0" y="0"/>
                </a:moveTo>
                <a:lnTo>
                  <a:pt x="18517762" y="0"/>
                </a:lnTo>
              </a:path>
            </a:pathLst>
          </a:custGeom>
          <a:ln w="235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02091" y="-15708"/>
            <a:ext cx="12997180" cy="110489"/>
            <a:chOff x="102091" y="-15708"/>
            <a:chExt cx="12997180" cy="110489"/>
          </a:xfrm>
        </p:grpSpPr>
        <p:sp>
          <p:nvSpPr>
            <p:cNvPr id="4" name="object 4" descr=""/>
            <p:cNvSpPr/>
            <p:nvPr/>
          </p:nvSpPr>
          <p:spPr>
            <a:xfrm>
              <a:off x="102091" y="74611"/>
              <a:ext cx="12997180" cy="0"/>
            </a:xfrm>
            <a:custGeom>
              <a:avLst/>
              <a:gdLst/>
              <a:ahLst/>
              <a:cxnLst/>
              <a:rect l="l" t="t" r="r" b="b"/>
              <a:pathLst>
                <a:path w="12997180" h="0">
                  <a:moveTo>
                    <a:pt x="0" y="0"/>
                  </a:moveTo>
                  <a:lnTo>
                    <a:pt x="12996987" y="0"/>
                  </a:lnTo>
                </a:path>
              </a:pathLst>
            </a:custGeom>
            <a:ln w="39269">
              <a:solidFill>
                <a:srgbClr val="77574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25650" y="3926"/>
              <a:ext cx="12847955" cy="0"/>
            </a:xfrm>
            <a:custGeom>
              <a:avLst/>
              <a:gdLst/>
              <a:ahLst/>
              <a:cxnLst/>
              <a:rect l="l" t="t" r="r" b="b"/>
              <a:pathLst>
                <a:path w="12847955" h="0">
                  <a:moveTo>
                    <a:pt x="0" y="0"/>
                  </a:moveTo>
                  <a:lnTo>
                    <a:pt x="12847777" y="0"/>
                  </a:lnTo>
                </a:path>
              </a:pathLst>
            </a:custGeom>
            <a:ln w="39269">
              <a:solidFill>
                <a:srgbClr val="77574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405"/>
              <a:t>Key</a:t>
            </a:r>
            <a:r>
              <a:rPr dirty="0" spc="-130"/>
              <a:t> </a:t>
            </a:r>
            <a:r>
              <a:rPr dirty="0" spc="-445"/>
              <a:t>Takeaways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1314293" y="5445782"/>
            <a:ext cx="13397865" cy="22371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90"/>
              </a:spcBef>
            </a:pPr>
            <a:r>
              <a:rPr dirty="0" sz="3100" spc="-25">
                <a:solidFill>
                  <a:srgbClr val="383838"/>
                </a:solidFill>
                <a:latin typeface="Calibri"/>
                <a:cs typeface="Calibri"/>
              </a:rPr>
              <a:t>Integration:</a:t>
            </a:r>
            <a:r>
              <a:rPr dirty="0" sz="3100" spc="-5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3100" spc="-60">
                <a:solidFill>
                  <a:srgbClr val="3D3D3D"/>
                </a:solidFill>
                <a:latin typeface="Calibri"/>
                <a:cs typeface="Calibri"/>
              </a:rPr>
              <a:t>Successfully</a:t>
            </a:r>
            <a:r>
              <a:rPr dirty="0" sz="310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3100" spc="-95">
                <a:solidFill>
                  <a:srgbClr val="3F3F3F"/>
                </a:solidFill>
                <a:latin typeface="Calibri"/>
                <a:cs typeface="Calibri"/>
              </a:rPr>
              <a:t>bridging</a:t>
            </a:r>
            <a:r>
              <a:rPr dirty="0" sz="3100" spc="-5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3100" spc="-130">
                <a:solidFill>
                  <a:srgbClr val="363636"/>
                </a:solidFill>
                <a:latin typeface="Calibri"/>
                <a:cs typeface="Calibri"/>
              </a:rPr>
              <a:t>Python</a:t>
            </a:r>
            <a:r>
              <a:rPr dirty="0" sz="3100" spc="-85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3100" spc="-160">
                <a:solidFill>
                  <a:srgbClr val="3B3B3B"/>
                </a:solidFill>
                <a:latin typeface="Calibri"/>
                <a:cs typeface="Calibri"/>
              </a:rPr>
              <a:t>apps</a:t>
            </a:r>
            <a:r>
              <a:rPr dirty="0" sz="3100" spc="-11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3100" spc="-65">
                <a:solidFill>
                  <a:srgbClr val="3B3B3B"/>
                </a:solidFill>
                <a:latin typeface="Calibri"/>
                <a:cs typeface="Calibri"/>
              </a:rPr>
              <a:t>with</a:t>
            </a:r>
            <a:r>
              <a:rPr dirty="0" sz="3100" spc="-235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3100" spc="-100">
                <a:solidFill>
                  <a:srgbClr val="363636"/>
                </a:solidFill>
                <a:latin typeface="Calibri"/>
                <a:cs typeface="Calibri"/>
              </a:rPr>
              <a:t>external</a:t>
            </a:r>
            <a:r>
              <a:rPr dirty="0" sz="3100" spc="-65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3100" spc="60">
                <a:solidFill>
                  <a:srgbClr val="6E5249"/>
                </a:solidFill>
                <a:latin typeface="Calibri"/>
                <a:cs typeface="Calibri"/>
              </a:rPr>
              <a:t>AI</a:t>
            </a:r>
            <a:r>
              <a:rPr dirty="0" sz="3100" spc="-180">
                <a:solidFill>
                  <a:srgbClr val="6E5249"/>
                </a:solidFill>
                <a:latin typeface="Calibri"/>
                <a:cs typeface="Calibri"/>
              </a:rPr>
              <a:t> </a:t>
            </a:r>
            <a:r>
              <a:rPr dirty="0" sz="3100" spc="-10">
                <a:solidFill>
                  <a:srgbClr val="313131"/>
                </a:solidFill>
                <a:latin typeface="Calibri"/>
                <a:cs typeface="Calibri"/>
              </a:rPr>
              <a:t>APIs.</a:t>
            </a:r>
            <a:endParaRPr sz="3100">
              <a:latin typeface="Calibri"/>
              <a:cs typeface="Calibri"/>
            </a:endParaRPr>
          </a:p>
          <a:p>
            <a:pPr marL="13970">
              <a:lnSpc>
                <a:spcPct val="100000"/>
              </a:lnSpc>
              <a:spcBef>
                <a:spcPts val="3354"/>
              </a:spcBef>
            </a:pPr>
            <a:r>
              <a:rPr dirty="0" sz="2950" spc="55">
                <a:solidFill>
                  <a:srgbClr val="363636"/>
                </a:solidFill>
                <a:latin typeface="Calibri"/>
                <a:cs typeface="Calibri"/>
              </a:rPr>
              <a:t>Availability:</a:t>
            </a:r>
            <a:r>
              <a:rPr dirty="0" sz="2950" spc="5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950" spc="-10">
                <a:solidFill>
                  <a:srgbClr val="2F2F2F"/>
                </a:solidFill>
                <a:latin typeface="Calibri"/>
                <a:cs typeface="Calibri"/>
              </a:rPr>
              <a:t>Providing</a:t>
            </a:r>
            <a:r>
              <a:rPr dirty="0" sz="2950" spc="-65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3B3B3B"/>
                </a:solidFill>
                <a:latin typeface="Calibri"/>
                <a:cs typeface="Calibri"/>
              </a:rPr>
              <a:t>24/7</a:t>
            </a:r>
            <a:r>
              <a:rPr dirty="0" sz="2950" spc="-95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2950" spc="-30">
                <a:solidFill>
                  <a:srgbClr val="3D3D3D"/>
                </a:solidFill>
                <a:latin typeface="Calibri"/>
                <a:cs typeface="Calibri"/>
              </a:rPr>
              <a:t>support</a:t>
            </a:r>
            <a:r>
              <a:rPr dirty="0" sz="2950" spc="-4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2950" spc="-60">
                <a:solidFill>
                  <a:srgbClr val="3B3B3B"/>
                </a:solidFill>
                <a:latin typeface="Calibri"/>
                <a:cs typeface="Calibri"/>
              </a:rPr>
              <a:t>through</a:t>
            </a:r>
            <a:r>
              <a:rPr dirty="0" sz="2950" spc="-85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2950" spc="-70">
                <a:solidFill>
                  <a:srgbClr val="3B3B3B"/>
                </a:solidFill>
                <a:latin typeface="Calibri"/>
                <a:cs typeface="Calibri"/>
              </a:rPr>
              <a:t>automated</a:t>
            </a:r>
            <a:r>
              <a:rPr dirty="0" sz="2950" spc="-35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2950" spc="-20">
                <a:solidFill>
                  <a:srgbClr val="3B3B3B"/>
                </a:solidFill>
                <a:latin typeface="Calibri"/>
                <a:cs typeface="Calibri"/>
              </a:rPr>
              <a:t>knowledge</a:t>
            </a:r>
            <a:r>
              <a:rPr dirty="0" sz="2950" spc="2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2950" spc="-10">
                <a:solidFill>
                  <a:srgbClr val="383838"/>
                </a:solidFill>
                <a:latin typeface="Calibri"/>
                <a:cs typeface="Calibri"/>
              </a:rPr>
              <a:t>bases.</a:t>
            </a:r>
            <a:endParaRPr sz="2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265"/>
              </a:spcBef>
            </a:pPr>
            <a:r>
              <a:rPr dirty="0" sz="2950">
                <a:solidFill>
                  <a:srgbClr val="3B3B3B"/>
                </a:solidFill>
                <a:latin typeface="Calibri"/>
                <a:cs typeface="Calibri"/>
              </a:rPr>
              <a:t>Modern</a:t>
            </a:r>
            <a:r>
              <a:rPr dirty="0" sz="2950" spc="-155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2950" spc="75">
                <a:solidFill>
                  <a:srgbClr val="343434"/>
                </a:solidFill>
                <a:latin typeface="Calibri"/>
                <a:cs typeface="Calibri"/>
              </a:rPr>
              <a:t>Stack:</a:t>
            </a:r>
            <a:r>
              <a:rPr dirty="0" sz="2950" spc="-185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3D3D3D"/>
                </a:solidFill>
                <a:latin typeface="Calibri"/>
                <a:cs typeface="Calibri"/>
              </a:rPr>
              <a:t>Utilizing</a:t>
            </a:r>
            <a:r>
              <a:rPr dirty="0" sz="2950" spc="-105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363636"/>
                </a:solidFill>
                <a:latin typeface="Calibri"/>
                <a:cs typeface="Calibri"/>
              </a:rPr>
              <a:t>Streamlit</a:t>
            </a:r>
            <a:r>
              <a:rPr dirty="0" sz="2950" spc="-5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950" spc="-20">
                <a:solidFill>
                  <a:srgbClr val="464646"/>
                </a:solidFill>
                <a:latin typeface="Calibri"/>
                <a:cs typeface="Calibri"/>
              </a:rPr>
              <a:t>for</a:t>
            </a:r>
            <a:r>
              <a:rPr dirty="0" sz="2950" spc="-14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950" spc="-25">
                <a:solidFill>
                  <a:srgbClr val="3B3B3B"/>
                </a:solidFill>
                <a:latin typeface="Calibri"/>
                <a:cs typeface="Calibri"/>
              </a:rPr>
              <a:t>rapid</a:t>
            </a:r>
            <a:r>
              <a:rPr dirty="0" sz="2950" spc="-17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2950" spc="-30">
                <a:solidFill>
                  <a:srgbClr val="3A3A3A"/>
                </a:solidFill>
                <a:latin typeface="Calibri"/>
                <a:cs typeface="Calibri"/>
              </a:rPr>
              <a:t>prototyping</a:t>
            </a:r>
            <a:r>
              <a:rPr dirty="0" sz="2950" spc="25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2950" spc="-70">
                <a:solidFill>
                  <a:srgbClr val="424242"/>
                </a:solidFill>
                <a:latin typeface="Calibri"/>
                <a:cs typeface="Calibri"/>
              </a:rPr>
              <a:t>and</a:t>
            </a:r>
            <a:r>
              <a:rPr dirty="0" sz="2950" spc="-265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2950" spc="-45">
                <a:solidFill>
                  <a:srgbClr val="3A3A3A"/>
                </a:solidFill>
                <a:latin typeface="Calibri"/>
                <a:cs typeface="Calibri"/>
              </a:rPr>
              <a:t>deployment</a:t>
            </a:r>
            <a:r>
              <a:rPr dirty="0" sz="2950" spc="75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2950" spc="-45">
                <a:solidFill>
                  <a:srgbClr val="464646"/>
                </a:solidFill>
                <a:latin typeface="Calibri"/>
                <a:cs typeface="Calibri"/>
              </a:rPr>
              <a:t>of</a:t>
            </a:r>
            <a:r>
              <a:rPr dirty="0" sz="2950" spc="-185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3B3B3B"/>
                </a:solidFill>
                <a:latin typeface="Calibri"/>
                <a:cs typeface="Calibri"/>
              </a:rPr>
              <a:t>business</a:t>
            </a:r>
            <a:r>
              <a:rPr dirty="0" sz="2950" spc="25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2950" spc="-10">
                <a:solidFill>
                  <a:srgbClr val="3A3A3A"/>
                </a:solidFill>
                <a:latin typeface="Calibri"/>
                <a:cs typeface="Calibri"/>
              </a:rPr>
              <a:t>apps.</a:t>
            </a:r>
            <a:endParaRPr sz="2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2091" y="66757"/>
            <a:ext cx="12997180" cy="0"/>
          </a:xfrm>
          <a:custGeom>
            <a:avLst/>
            <a:gdLst/>
            <a:ahLst/>
            <a:cxnLst/>
            <a:rect l="l" t="t" r="r" b="b"/>
            <a:pathLst>
              <a:path w="12997180" h="0">
                <a:moveTo>
                  <a:pt x="0" y="0"/>
                </a:moveTo>
                <a:lnTo>
                  <a:pt x="12996987" y="0"/>
                </a:lnTo>
              </a:path>
            </a:pathLst>
          </a:custGeom>
          <a:ln w="39269">
            <a:solidFill>
              <a:srgbClr val="74574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300" spc="-280">
                <a:solidFill>
                  <a:srgbClr val="2B2B2B"/>
                </a:solidFill>
              </a:rPr>
              <a:t>Questions?</a:t>
            </a:r>
            <a:endParaRPr sz="11300"/>
          </a:p>
        </p:txBody>
      </p:sp>
      <p:sp>
        <p:nvSpPr>
          <p:cNvPr id="4" name="object 4" descr=""/>
          <p:cNvSpPr txBox="1"/>
          <p:nvPr/>
        </p:nvSpPr>
        <p:spPr>
          <a:xfrm>
            <a:off x="7868546" y="6312987"/>
            <a:ext cx="4361180" cy="6343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000">
                <a:solidFill>
                  <a:srgbClr val="8E7566"/>
                </a:solidFill>
                <a:latin typeface="Calibri"/>
                <a:cs typeface="Calibri"/>
              </a:rPr>
              <a:t>Mi7fada</a:t>
            </a:r>
            <a:r>
              <a:rPr dirty="0" sz="4000" spc="-204">
                <a:solidFill>
                  <a:srgbClr val="8E7566"/>
                </a:solidFill>
                <a:latin typeface="Calibri"/>
                <a:cs typeface="Calibri"/>
              </a:rPr>
              <a:t> </a:t>
            </a:r>
            <a:r>
              <a:rPr dirty="0" sz="4000">
                <a:solidFill>
                  <a:srgbClr val="91756E"/>
                </a:solidFill>
                <a:latin typeface="Calibri"/>
                <a:cs typeface="Calibri"/>
              </a:rPr>
              <a:t>Bags</a:t>
            </a:r>
            <a:r>
              <a:rPr dirty="0" sz="4000" spc="-165">
                <a:solidFill>
                  <a:srgbClr val="91756E"/>
                </a:solidFill>
                <a:latin typeface="Calibri"/>
                <a:cs typeface="Calibri"/>
              </a:rPr>
              <a:t> </a:t>
            </a:r>
            <a:r>
              <a:rPr dirty="0" sz="4000" spc="50">
                <a:solidFill>
                  <a:srgbClr val="85645D"/>
                </a:solidFill>
                <a:latin typeface="Calibri"/>
                <a:cs typeface="Calibri"/>
              </a:rPr>
              <a:t>&amp;</a:t>
            </a:r>
            <a:r>
              <a:rPr dirty="0" sz="4000" spc="-300">
                <a:solidFill>
                  <a:srgbClr val="85645D"/>
                </a:solidFill>
                <a:latin typeface="Calibri"/>
                <a:cs typeface="Calibri"/>
              </a:rPr>
              <a:t> </a:t>
            </a:r>
            <a:r>
              <a:rPr dirty="0" sz="4000" spc="-10">
                <a:solidFill>
                  <a:srgbClr val="826B64"/>
                </a:solidFill>
                <a:latin typeface="Calibri"/>
                <a:cs typeface="Calibri"/>
              </a:rPr>
              <a:t>Style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2025-12-06T08:15:13Z</dcterms:created>
  <dcterms:modified xsi:type="dcterms:W3CDTF">2025-12-06T08:15:13Z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2025-12-06T00:00:00Z</vt:filetime>
  </property>
  <property fmtid="{D5CDD505-2E9C-101B-9397-08002B2CF9AE}" pid="3" name="LastSaved">
    <vt:filetime>2025-12-06T00:00:00Z</vt:filetime>
  </property>
  <property fmtid="{D5CDD505-2E9C-101B-9397-08002B2CF9AE}" pid="4" name="Producer">
    <vt:lpwstr>4-Heights™ PDF Library 3.4.0.6904 (http://www.pdf-tools.com)</vt:lpwstr>
  </property>
</Properties>
</file>